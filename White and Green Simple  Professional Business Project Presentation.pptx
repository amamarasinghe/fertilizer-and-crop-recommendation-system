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uce Heavy" charset="1" panose="00000A00000000000000"/>
      <p:regular r:id="rId15"/>
    </p:embeddedFont>
    <p:embeddedFont>
      <p:font typeface="Open Sauce Bold" charset="1" panose="00000800000000000000"/>
      <p:regular r:id="rId16"/>
    </p:embeddedFont>
    <p:embeddedFont>
      <p:font typeface="Open Sauce" charset="1" panose="00000500000000000000"/>
      <p:regular r:id="rId17"/>
    </p:embeddedFont>
    <p:embeddedFont>
      <p:font typeface="Arimo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media/image35.png" Type="http://schemas.openxmlformats.org/officeDocument/2006/relationships/image"/><Relationship Id="rId16" Target="../media/image36.svg" Type="http://schemas.openxmlformats.org/officeDocument/2006/relationships/image"/><Relationship Id="rId17" Target="../media/image37.png" Type="http://schemas.openxmlformats.org/officeDocument/2006/relationships/image"/><Relationship Id="rId18" Target="../media/image38.svg" Type="http://schemas.openxmlformats.org/officeDocument/2006/relationships/image"/><Relationship Id="rId19" Target="../media/image39.png" Type="http://schemas.openxmlformats.org/officeDocument/2006/relationships/image"/><Relationship Id="rId2" Target="../media/image22.jpeg" Type="http://schemas.openxmlformats.org/officeDocument/2006/relationships/image"/><Relationship Id="rId20" Target="../media/image40.svg" Type="http://schemas.openxmlformats.org/officeDocument/2006/relationships/image"/><Relationship Id="rId21" Target="../media/image41.png" Type="http://schemas.openxmlformats.org/officeDocument/2006/relationships/image"/><Relationship Id="rId22" Target="../media/image42.svg" Type="http://schemas.openxmlformats.org/officeDocument/2006/relationships/image"/><Relationship Id="rId23" Target="../media/image43.png" Type="http://schemas.openxmlformats.org/officeDocument/2006/relationships/image"/><Relationship Id="rId24" Target="../media/image44.sv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svg" Type="http://schemas.openxmlformats.org/officeDocument/2006/relationships/image"/><Relationship Id="rId2" Target="../media/image8.pn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59.svg" Type="http://schemas.openxmlformats.org/officeDocument/2006/relationships/image"/><Relationship Id="rId13" Target="../media/image60.png" Type="http://schemas.openxmlformats.org/officeDocument/2006/relationships/image"/><Relationship Id="rId14" Target="../media/image61.svg" Type="http://schemas.openxmlformats.org/officeDocument/2006/relationships/image"/><Relationship Id="rId15" Target="../media/image62.png" Type="http://schemas.openxmlformats.org/officeDocument/2006/relationships/image"/><Relationship Id="rId16" Target="../media/image63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4.png" Type="http://schemas.openxmlformats.org/officeDocument/2006/relationships/image"/><Relationship Id="rId5" Target="../media/image6.png" Type="http://schemas.openxmlformats.org/officeDocument/2006/relationships/image"/><Relationship Id="rId6" Target="https://agriadvisor.site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47759" y="3749017"/>
            <a:ext cx="3240241" cy="6504134"/>
          </a:xfrm>
          <a:custGeom>
            <a:avLst/>
            <a:gdLst/>
            <a:ahLst/>
            <a:cxnLst/>
            <a:rect r="r" b="b" t="t" l="l"/>
            <a:pathLst>
              <a:path h="6504134" w="3240241">
                <a:moveTo>
                  <a:pt x="0" y="0"/>
                </a:moveTo>
                <a:lnTo>
                  <a:pt x="3240241" y="0"/>
                </a:lnTo>
                <a:lnTo>
                  <a:pt x="3240241" y="6504133"/>
                </a:lnTo>
                <a:lnTo>
                  <a:pt x="0" y="6504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209842" y="-1321134"/>
            <a:ext cx="5255597" cy="13183610"/>
            <a:chOff x="0" y="0"/>
            <a:chExt cx="1384190" cy="34722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4190" cy="3472226"/>
            </a:xfrm>
            <a:custGeom>
              <a:avLst/>
              <a:gdLst/>
              <a:ahLst/>
              <a:cxnLst/>
              <a:rect r="r" b="b" t="t" l="l"/>
              <a:pathLst>
                <a:path h="3472226" w="1384190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384190" cy="3491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210807" y="2144465"/>
            <a:ext cx="6616535" cy="6616535"/>
            <a:chOff x="0" y="0"/>
            <a:chExt cx="8822046" cy="88220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22046" cy="8822046"/>
            </a:xfrm>
            <a:custGeom>
              <a:avLst/>
              <a:gdLst/>
              <a:ahLst/>
              <a:cxnLst/>
              <a:rect r="r" b="b" t="t" l="l"/>
              <a:pathLst>
                <a:path h="8822046" w="8822046">
                  <a:moveTo>
                    <a:pt x="0" y="0"/>
                  </a:moveTo>
                  <a:lnTo>
                    <a:pt x="8822046" y="0"/>
                  </a:lnTo>
                  <a:lnTo>
                    <a:pt x="8822046" y="8822046"/>
                  </a:lnTo>
                  <a:lnTo>
                    <a:pt x="0" y="8822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0">
              <a:off x="821493" y="821507"/>
              <a:ext cx="7179061" cy="7179032"/>
              <a:chOff x="0" y="0"/>
              <a:chExt cx="6350000" cy="634997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24932" r="0" b="-24932"/>
                </a:stretch>
              </a:blipFill>
            </p:spPr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168125" y="517976"/>
            <a:ext cx="1077650" cy="1077650"/>
          </a:xfrm>
          <a:custGeom>
            <a:avLst/>
            <a:gdLst/>
            <a:ahLst/>
            <a:cxnLst/>
            <a:rect r="r" b="b" t="t" l="l"/>
            <a:pathLst>
              <a:path h="1077650" w="1077650">
                <a:moveTo>
                  <a:pt x="0" y="0"/>
                </a:moveTo>
                <a:lnTo>
                  <a:pt x="1077650" y="0"/>
                </a:lnTo>
                <a:lnTo>
                  <a:pt x="1077650" y="1077650"/>
                </a:lnTo>
                <a:lnTo>
                  <a:pt x="0" y="10776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3083" y="3085180"/>
            <a:ext cx="9573417" cy="331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7"/>
              </a:lnSpc>
            </a:pPr>
            <a:r>
              <a:rPr lang="en-US" sz="4748" spc="-94" b="true">
                <a:solidFill>
                  <a:srgbClr val="191919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Machine Learning Based Crop and Fertilizer Recommendation for Sustainable Agriculture in</a:t>
            </a:r>
          </a:p>
          <a:p>
            <a:pPr algn="l">
              <a:lnSpc>
                <a:spcPts val="6647"/>
              </a:lnSpc>
            </a:pPr>
            <a:r>
              <a:rPr lang="en-US" sz="4748" spc="-94" b="true">
                <a:solidFill>
                  <a:srgbClr val="191919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Sri Lanka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85837" y="773787"/>
            <a:ext cx="2901206" cy="58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4"/>
              </a:lnSpc>
            </a:pPr>
            <a:r>
              <a:rPr lang="en-US" sz="4012" spc="-80" b="true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Agri</a:t>
            </a:r>
            <a:r>
              <a:rPr lang="en-US" sz="4012" spc="-80" b="true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Advisor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3083" y="8550842"/>
            <a:ext cx="5574711" cy="382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18" spc="185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Presented By: MMA Prabuddhika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37582" y="9870935"/>
            <a:ext cx="1843436" cy="382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18" spc="185">
                <a:solidFill>
                  <a:srgbClr val="FDFBFB"/>
                </a:solidFill>
                <a:latin typeface="Open Sauce"/>
                <a:ea typeface="Open Sauce"/>
                <a:cs typeface="Open Sauce"/>
                <a:sym typeface="Open Sauce"/>
              </a:rPr>
              <a:t>2025.11.25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3083" y="6833150"/>
            <a:ext cx="6677917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Web Based Crop and Fertilizer Recommendation Application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81967" y="-2828925"/>
            <a:ext cx="5657850" cy="565785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10892" y="0"/>
            <a:ext cx="6648057" cy="10287000"/>
            <a:chOff x="0" y="0"/>
            <a:chExt cx="1750928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092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50928">
                  <a:moveTo>
                    <a:pt x="0" y="0"/>
                  </a:moveTo>
                  <a:lnTo>
                    <a:pt x="1750928" y="0"/>
                  </a:lnTo>
                  <a:lnTo>
                    <a:pt x="175092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06861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0928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90959" y="8567821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06536" y="3314080"/>
            <a:ext cx="654889" cy="65488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3D3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710892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95137" y="1754095"/>
            <a:ext cx="5361704" cy="80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44"/>
              </a:lnSpc>
              <a:spcBef>
                <a:spcPct val="0"/>
              </a:spcBef>
            </a:pPr>
            <a:r>
              <a:rPr lang="en-US" b="true" sz="4746" spc="-94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Table Of Content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5141" y="3096108"/>
            <a:ext cx="5224262" cy="320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5238" indent="-282619" lvl="1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Problem Identification</a:t>
            </a:r>
          </a:p>
          <a:p>
            <a:pPr algn="l" marL="565238" indent="-282619" lvl="1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Objectives</a:t>
            </a:r>
          </a:p>
          <a:p>
            <a:pPr algn="l" marL="565238" indent="-282619" lvl="1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Methodology</a:t>
            </a:r>
          </a:p>
          <a:p>
            <a:pPr algn="l" marL="565238" indent="-282619" lvl="1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Key Findings</a:t>
            </a:r>
          </a:p>
          <a:p>
            <a:pPr algn="l" marL="565238" indent="-282619" lvl="1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Novelty</a:t>
            </a:r>
          </a:p>
          <a:p>
            <a:pPr algn="l" marL="565238" indent="-282619" lvl="1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Deployment and Evaluation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2282563" y="3128279"/>
            <a:ext cx="12710840" cy="1184047"/>
          </a:xfrm>
          <a:custGeom>
            <a:avLst/>
            <a:gdLst/>
            <a:ahLst/>
            <a:cxnLst/>
            <a:rect r="r" b="b" t="t" l="l"/>
            <a:pathLst>
              <a:path h="1184047" w="12710840">
                <a:moveTo>
                  <a:pt x="0" y="0"/>
                </a:moveTo>
                <a:lnTo>
                  <a:pt x="12710840" y="0"/>
                </a:lnTo>
                <a:lnTo>
                  <a:pt x="12710840" y="1184046"/>
                </a:lnTo>
                <a:lnTo>
                  <a:pt x="0" y="1184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-2086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128279"/>
            <a:chOff x="0" y="0"/>
            <a:chExt cx="4816593" cy="8239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23909"/>
            </a:xfrm>
            <a:custGeom>
              <a:avLst/>
              <a:gdLst/>
              <a:ahLst/>
              <a:cxnLst/>
              <a:rect r="r" b="b" t="t" l="l"/>
              <a:pathLst>
                <a:path h="8239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23909"/>
                  </a:lnTo>
                  <a:lnTo>
                    <a:pt x="0" y="823909"/>
                  </a:lnTo>
                  <a:close/>
                </a:path>
              </a:pathLst>
            </a:custGeom>
            <a:solidFill>
              <a:srgbClr val="10686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42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8288000" cy="3128279"/>
          </a:xfrm>
          <a:custGeom>
            <a:avLst/>
            <a:gdLst/>
            <a:ahLst/>
            <a:cxnLst/>
            <a:rect r="r" b="b" t="t" l="l"/>
            <a:pathLst>
              <a:path h="3128279" w="18288000">
                <a:moveTo>
                  <a:pt x="0" y="0"/>
                </a:moveTo>
                <a:lnTo>
                  <a:pt x="18288000" y="0"/>
                </a:lnTo>
                <a:lnTo>
                  <a:pt x="18288000" y="3128279"/>
                </a:lnTo>
                <a:lnTo>
                  <a:pt x="0" y="31282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</a:blip>
            <a:stretch>
              <a:fillRect l="0" t="-122955" r="0" b="-166536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438131" y="4178975"/>
            <a:ext cx="15411737" cy="1366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53"/>
              </a:lnSpc>
            </a:pPr>
            <a:r>
              <a:rPr lang="en-US" sz="347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Many Sri </a:t>
            </a:r>
            <a:r>
              <a:rPr lang="en-US" sz="347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Lankan farmers rely on traditional practices and personal experience when choosing crops and fertilizers. This often leads to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537756" y="2059570"/>
            <a:ext cx="10200454" cy="1660732"/>
            <a:chOff x="0" y="0"/>
            <a:chExt cx="13600605" cy="221431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3600605" cy="2214310"/>
              <a:chOff x="0" y="0"/>
              <a:chExt cx="3353112" cy="54591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353112" cy="545919"/>
              </a:xfrm>
              <a:custGeom>
                <a:avLst/>
                <a:gdLst/>
                <a:ahLst/>
                <a:cxnLst/>
                <a:rect r="r" b="b" t="t" l="l"/>
                <a:pathLst>
                  <a:path h="545919" w="3353112">
                    <a:moveTo>
                      <a:pt x="15202" y="0"/>
                    </a:moveTo>
                    <a:lnTo>
                      <a:pt x="3337909" y="0"/>
                    </a:lnTo>
                    <a:cubicBezTo>
                      <a:pt x="3341941" y="0"/>
                      <a:pt x="3345808" y="1602"/>
                      <a:pt x="3348659" y="4453"/>
                    </a:cubicBezTo>
                    <a:cubicBezTo>
                      <a:pt x="3351510" y="7304"/>
                      <a:pt x="3353112" y="11171"/>
                      <a:pt x="3353112" y="15202"/>
                    </a:cubicBezTo>
                    <a:lnTo>
                      <a:pt x="3353112" y="530717"/>
                    </a:lnTo>
                    <a:cubicBezTo>
                      <a:pt x="3353112" y="534748"/>
                      <a:pt x="3351510" y="538615"/>
                      <a:pt x="3348659" y="541466"/>
                    </a:cubicBezTo>
                    <a:cubicBezTo>
                      <a:pt x="3345808" y="544317"/>
                      <a:pt x="3341941" y="545919"/>
                      <a:pt x="3337909" y="545919"/>
                    </a:cubicBezTo>
                    <a:lnTo>
                      <a:pt x="15202" y="545919"/>
                    </a:lnTo>
                    <a:cubicBezTo>
                      <a:pt x="11171" y="545919"/>
                      <a:pt x="7304" y="544317"/>
                      <a:pt x="4453" y="541466"/>
                    </a:cubicBezTo>
                    <a:cubicBezTo>
                      <a:pt x="1602" y="538615"/>
                      <a:pt x="0" y="534748"/>
                      <a:pt x="0" y="530717"/>
                    </a:cubicBezTo>
                    <a:lnTo>
                      <a:pt x="0" y="15202"/>
                    </a:lnTo>
                    <a:cubicBezTo>
                      <a:pt x="0" y="11171"/>
                      <a:pt x="1602" y="7304"/>
                      <a:pt x="4453" y="4453"/>
                    </a:cubicBezTo>
                    <a:cubicBezTo>
                      <a:pt x="7304" y="1602"/>
                      <a:pt x="11171" y="0"/>
                      <a:pt x="15202" y="0"/>
                    </a:cubicBezTo>
                    <a:close/>
                  </a:path>
                </a:pathLst>
              </a:custGeom>
              <a:solidFill>
                <a:srgbClr val="10686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3353112" cy="5649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082695" y="440068"/>
              <a:ext cx="9806923" cy="1219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677"/>
                </a:lnSpc>
                <a:spcBef>
                  <a:spcPct val="0"/>
                </a:spcBef>
              </a:pPr>
              <a:r>
                <a:rPr lang="en-US" b="true" sz="5483" spc="-109">
                  <a:solidFill>
                    <a:srgbClr val="FDFBF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Problem Statement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223569" y="9588148"/>
            <a:ext cx="1279644" cy="327444"/>
            <a:chOff x="0" y="0"/>
            <a:chExt cx="1706192" cy="43659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1269600" y="0"/>
              <a:ext cx="436592" cy="436592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23D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648514" y="0"/>
              <a:ext cx="436592" cy="436592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23D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436592" cy="436592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23D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3" id="23"/>
          <p:cNvSpPr txBox="true"/>
          <p:nvPr/>
        </p:nvSpPr>
        <p:spPr>
          <a:xfrm rot="0">
            <a:off x="5986402" y="5817264"/>
            <a:ext cx="5303163" cy="142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1327" indent="-320663" lvl="1">
              <a:lnSpc>
                <a:spcPts val="3802"/>
              </a:lnSpc>
              <a:buFont typeface="Arial"/>
              <a:buChar char="•"/>
            </a:pPr>
            <a:r>
              <a:rPr lang="en-US" b="true" sz="297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poor yields</a:t>
            </a:r>
          </a:p>
          <a:p>
            <a:pPr algn="just" marL="641327" indent="-320663" lvl="1">
              <a:lnSpc>
                <a:spcPts val="3802"/>
              </a:lnSpc>
              <a:buFont typeface="Arial"/>
              <a:buChar char="•"/>
            </a:pPr>
            <a:r>
              <a:rPr lang="en-US" b="true" sz="297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soil damage</a:t>
            </a:r>
          </a:p>
          <a:p>
            <a:pPr algn="just" marL="641327" indent="-320663" lvl="1">
              <a:lnSpc>
                <a:spcPts val="3802"/>
              </a:lnSpc>
              <a:buFont typeface="Arial"/>
              <a:buChar char="•"/>
            </a:pPr>
            <a:r>
              <a:rPr lang="en-US" b="true" sz="297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inefficient resource use.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8131" y="7515957"/>
            <a:ext cx="15411737" cy="167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41"/>
              </a:lnSpc>
              <a:spcBef>
                <a:spcPct val="0"/>
              </a:spcBef>
            </a:pPr>
            <a:r>
              <a:rPr lang="en-US" sz="34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There is a lack of accessible, data driven tools to guide agricultural decisions. This project addresses that gap by introducing a machine learning based recommendation system tailored to local conditions.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29577" y="419323"/>
            <a:ext cx="5768678" cy="138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81"/>
              </a:lnSpc>
            </a:pPr>
            <a:r>
              <a:rPr lang="en-US" sz="8129" spc="-162" b="true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2785" y="3309171"/>
            <a:ext cx="4200377" cy="6752257"/>
            <a:chOff x="0" y="0"/>
            <a:chExt cx="5600503" cy="9003009"/>
          </a:xfrm>
        </p:grpSpPr>
        <p:grpSp>
          <p:nvGrpSpPr>
            <p:cNvPr name="Group 4" id="4"/>
            <p:cNvGrpSpPr/>
            <p:nvPr/>
          </p:nvGrpSpPr>
          <p:grpSpPr>
            <a:xfrm rot="-10800000">
              <a:off x="0" y="0"/>
              <a:ext cx="5600503" cy="9003009"/>
              <a:chOff x="0" y="0"/>
              <a:chExt cx="2147202" cy="345170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147202" cy="3451705"/>
              </a:xfrm>
              <a:custGeom>
                <a:avLst/>
                <a:gdLst/>
                <a:ahLst/>
                <a:cxnLst/>
                <a:rect r="r" b="b" t="t" l="l"/>
                <a:pathLst>
                  <a:path h="3451705" w="2147202">
                    <a:moveTo>
                      <a:pt x="39383" y="0"/>
                    </a:moveTo>
                    <a:lnTo>
                      <a:pt x="2107819" y="0"/>
                    </a:lnTo>
                    <a:cubicBezTo>
                      <a:pt x="2129570" y="0"/>
                      <a:pt x="2147202" y="17632"/>
                      <a:pt x="2147202" y="39383"/>
                    </a:cubicBezTo>
                    <a:lnTo>
                      <a:pt x="2147202" y="3412322"/>
                    </a:lnTo>
                    <a:cubicBezTo>
                      <a:pt x="2147202" y="3434072"/>
                      <a:pt x="2129570" y="3451705"/>
                      <a:pt x="2107819" y="3451705"/>
                    </a:cubicBezTo>
                    <a:lnTo>
                      <a:pt x="39383" y="3451705"/>
                    </a:lnTo>
                    <a:cubicBezTo>
                      <a:pt x="28938" y="3451705"/>
                      <a:pt x="18921" y="3447555"/>
                      <a:pt x="11535" y="3440170"/>
                    </a:cubicBezTo>
                    <a:cubicBezTo>
                      <a:pt x="4149" y="3432784"/>
                      <a:pt x="0" y="3422767"/>
                      <a:pt x="0" y="3412322"/>
                    </a:cubicBezTo>
                    <a:lnTo>
                      <a:pt x="0" y="39383"/>
                    </a:lnTo>
                    <a:cubicBezTo>
                      <a:pt x="0" y="17632"/>
                      <a:pt x="17632" y="0"/>
                      <a:pt x="393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rnd">
                <a:solidFill>
                  <a:srgbClr val="106861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147202" cy="3489805"/>
              </a:xfrm>
              <a:prstGeom prst="rect">
                <a:avLst/>
              </a:prstGeom>
            </p:spPr>
            <p:txBody>
              <a:bodyPr anchor="ctr" rtlCol="false" tIns="76079" lIns="76079" bIns="76079" rIns="76079"/>
              <a:lstStyle/>
              <a:p>
                <a:pPr algn="ctr" marL="0" indent="0" lvl="0">
                  <a:lnSpc>
                    <a:spcPts val="275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404648" y="77584"/>
              <a:ext cx="2439566" cy="1137084"/>
            </a:xfrm>
            <a:custGeom>
              <a:avLst/>
              <a:gdLst/>
              <a:ahLst/>
              <a:cxnLst/>
              <a:rect r="r" b="b" t="t" l="l"/>
              <a:pathLst>
                <a:path h="1137084" w="2439566">
                  <a:moveTo>
                    <a:pt x="0" y="0"/>
                  </a:moveTo>
                  <a:lnTo>
                    <a:pt x="2439565" y="0"/>
                  </a:lnTo>
                  <a:lnTo>
                    <a:pt x="2439565" y="1137084"/>
                  </a:lnTo>
                  <a:lnTo>
                    <a:pt x="0" y="1137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14545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2066215" y="152620"/>
              <a:ext cx="1065538" cy="684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73"/>
                </a:lnSpc>
                <a:spcBef>
                  <a:spcPct val="0"/>
                </a:spcBef>
              </a:pPr>
              <a:r>
                <a:rPr lang="en-US" b="true" sz="3260">
                  <a:solidFill>
                    <a:srgbClr val="F8F8F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01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1950232" y="1721615"/>
              <a:ext cx="1424614" cy="1448314"/>
            </a:xfrm>
            <a:custGeom>
              <a:avLst/>
              <a:gdLst/>
              <a:ahLst/>
              <a:cxnLst/>
              <a:rect r="r" b="b" t="t" l="l"/>
              <a:pathLst>
                <a:path h="1448314" w="1424614">
                  <a:moveTo>
                    <a:pt x="0" y="0"/>
                  </a:moveTo>
                  <a:lnTo>
                    <a:pt x="1424614" y="0"/>
                  </a:lnTo>
                  <a:lnTo>
                    <a:pt x="1424614" y="1448313"/>
                  </a:lnTo>
                  <a:lnTo>
                    <a:pt x="0" y="1448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93902" y="3956422"/>
              <a:ext cx="4661058" cy="37476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10"/>
                </a:lnSpc>
              </a:pPr>
              <a:r>
                <a:rPr lang="en-US" sz="2540">
                  <a:solidFill>
                    <a:srgbClr val="34343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 develop a machine learning based crop recommendation system that considers various environmental and soil parameters.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0800000">
            <a:off x="-1396077" y="-4747058"/>
            <a:ext cx="3695540" cy="7418054"/>
          </a:xfrm>
          <a:custGeom>
            <a:avLst/>
            <a:gdLst/>
            <a:ahLst/>
            <a:cxnLst/>
            <a:rect r="r" b="b" t="t" l="l"/>
            <a:pathLst>
              <a:path h="7418054" w="3695540">
                <a:moveTo>
                  <a:pt x="0" y="0"/>
                </a:moveTo>
                <a:lnTo>
                  <a:pt x="3695540" y="0"/>
                </a:lnTo>
                <a:lnTo>
                  <a:pt x="3695540" y="7418054"/>
                </a:lnTo>
                <a:lnTo>
                  <a:pt x="0" y="7418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4839887" y="3309171"/>
            <a:ext cx="3993809" cy="6752257"/>
            <a:chOff x="0" y="0"/>
            <a:chExt cx="5325078" cy="9003009"/>
          </a:xfrm>
        </p:grpSpPr>
        <p:grpSp>
          <p:nvGrpSpPr>
            <p:cNvPr name="Group 13" id="13"/>
            <p:cNvGrpSpPr/>
            <p:nvPr/>
          </p:nvGrpSpPr>
          <p:grpSpPr>
            <a:xfrm rot="-10800000">
              <a:off x="0" y="0"/>
              <a:ext cx="5325078" cy="9003009"/>
              <a:chOff x="0" y="0"/>
              <a:chExt cx="2041606" cy="345170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41606" cy="3451705"/>
              </a:xfrm>
              <a:custGeom>
                <a:avLst/>
                <a:gdLst/>
                <a:ahLst/>
                <a:cxnLst/>
                <a:rect r="r" b="b" t="t" l="l"/>
                <a:pathLst>
                  <a:path h="3451705" w="2041606">
                    <a:moveTo>
                      <a:pt x="41420" y="0"/>
                    </a:moveTo>
                    <a:lnTo>
                      <a:pt x="2000186" y="0"/>
                    </a:lnTo>
                    <a:cubicBezTo>
                      <a:pt x="2023062" y="0"/>
                      <a:pt x="2041606" y="18544"/>
                      <a:pt x="2041606" y="41420"/>
                    </a:cubicBezTo>
                    <a:lnTo>
                      <a:pt x="2041606" y="3410284"/>
                    </a:lnTo>
                    <a:cubicBezTo>
                      <a:pt x="2041606" y="3433160"/>
                      <a:pt x="2023062" y="3451705"/>
                      <a:pt x="2000186" y="3451705"/>
                    </a:cubicBezTo>
                    <a:lnTo>
                      <a:pt x="41420" y="3451705"/>
                    </a:lnTo>
                    <a:cubicBezTo>
                      <a:pt x="18544" y="3451705"/>
                      <a:pt x="0" y="3433160"/>
                      <a:pt x="0" y="3410284"/>
                    </a:cubicBezTo>
                    <a:lnTo>
                      <a:pt x="0" y="41420"/>
                    </a:lnTo>
                    <a:cubicBezTo>
                      <a:pt x="0" y="18544"/>
                      <a:pt x="18544" y="0"/>
                      <a:pt x="414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rnd">
                <a:solidFill>
                  <a:srgbClr val="106861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041606" cy="3489805"/>
              </a:xfrm>
              <a:prstGeom prst="rect">
                <a:avLst/>
              </a:prstGeom>
            </p:spPr>
            <p:txBody>
              <a:bodyPr anchor="ctr" rtlCol="false" tIns="76079" lIns="76079" bIns="76079" rIns="76079"/>
              <a:lstStyle/>
              <a:p>
                <a:pPr algn="ctr" marL="0" indent="0" lvl="0">
                  <a:lnSpc>
                    <a:spcPts val="275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1404648" y="77584"/>
              <a:ext cx="2439566" cy="1137084"/>
            </a:xfrm>
            <a:custGeom>
              <a:avLst/>
              <a:gdLst/>
              <a:ahLst/>
              <a:cxnLst/>
              <a:rect r="r" b="b" t="t" l="l"/>
              <a:pathLst>
                <a:path h="1137084" w="2439566">
                  <a:moveTo>
                    <a:pt x="0" y="0"/>
                  </a:moveTo>
                  <a:lnTo>
                    <a:pt x="2439565" y="0"/>
                  </a:lnTo>
                  <a:lnTo>
                    <a:pt x="2439565" y="1137084"/>
                  </a:lnTo>
                  <a:lnTo>
                    <a:pt x="0" y="1137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14545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2066215" y="152620"/>
              <a:ext cx="1065538" cy="684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73"/>
                </a:lnSpc>
                <a:spcBef>
                  <a:spcPct val="0"/>
                </a:spcBef>
              </a:pPr>
              <a:r>
                <a:rPr lang="en-US" b="true" sz="3260">
                  <a:solidFill>
                    <a:srgbClr val="F8F8F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02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2039839" y="1721615"/>
              <a:ext cx="1169184" cy="1448314"/>
            </a:xfrm>
            <a:custGeom>
              <a:avLst/>
              <a:gdLst/>
              <a:ahLst/>
              <a:cxnLst/>
              <a:rect r="r" b="b" t="t" l="l"/>
              <a:pathLst>
                <a:path h="1448314" w="1169184">
                  <a:moveTo>
                    <a:pt x="0" y="0"/>
                  </a:moveTo>
                  <a:lnTo>
                    <a:pt x="1169184" y="0"/>
                  </a:lnTo>
                  <a:lnTo>
                    <a:pt x="1169184" y="1448313"/>
                  </a:lnTo>
                  <a:lnTo>
                    <a:pt x="0" y="1448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293902" y="3956422"/>
              <a:ext cx="4661058" cy="43826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10"/>
                </a:lnSpc>
              </a:pPr>
              <a:r>
                <a:rPr lang="en-US" sz="2540">
                  <a:solidFill>
                    <a:srgbClr val="34343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 design and implement a fertilizer recommendation model based on soil nutrients, crop type, and environmental factors.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01853" y="3309171"/>
            <a:ext cx="3993809" cy="6752257"/>
            <a:chOff x="0" y="0"/>
            <a:chExt cx="5325078" cy="9003009"/>
          </a:xfrm>
        </p:grpSpPr>
        <p:grpSp>
          <p:nvGrpSpPr>
            <p:cNvPr name="Group 21" id="21"/>
            <p:cNvGrpSpPr/>
            <p:nvPr/>
          </p:nvGrpSpPr>
          <p:grpSpPr>
            <a:xfrm rot="-10800000">
              <a:off x="0" y="0"/>
              <a:ext cx="5325078" cy="9003009"/>
              <a:chOff x="0" y="0"/>
              <a:chExt cx="2041606" cy="345170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41606" cy="3451705"/>
              </a:xfrm>
              <a:custGeom>
                <a:avLst/>
                <a:gdLst/>
                <a:ahLst/>
                <a:cxnLst/>
                <a:rect r="r" b="b" t="t" l="l"/>
                <a:pathLst>
                  <a:path h="3451705" w="2041606">
                    <a:moveTo>
                      <a:pt x="41420" y="0"/>
                    </a:moveTo>
                    <a:lnTo>
                      <a:pt x="2000186" y="0"/>
                    </a:lnTo>
                    <a:cubicBezTo>
                      <a:pt x="2023062" y="0"/>
                      <a:pt x="2041606" y="18544"/>
                      <a:pt x="2041606" y="41420"/>
                    </a:cubicBezTo>
                    <a:lnTo>
                      <a:pt x="2041606" y="3410284"/>
                    </a:lnTo>
                    <a:cubicBezTo>
                      <a:pt x="2041606" y="3433160"/>
                      <a:pt x="2023062" y="3451705"/>
                      <a:pt x="2000186" y="3451705"/>
                    </a:cubicBezTo>
                    <a:lnTo>
                      <a:pt x="41420" y="3451705"/>
                    </a:lnTo>
                    <a:cubicBezTo>
                      <a:pt x="18544" y="3451705"/>
                      <a:pt x="0" y="3433160"/>
                      <a:pt x="0" y="3410284"/>
                    </a:cubicBezTo>
                    <a:lnTo>
                      <a:pt x="0" y="41420"/>
                    </a:lnTo>
                    <a:cubicBezTo>
                      <a:pt x="0" y="18544"/>
                      <a:pt x="18544" y="0"/>
                      <a:pt x="414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106861"/>
                </a:soli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041606" cy="3489805"/>
              </a:xfrm>
              <a:prstGeom prst="rect">
                <a:avLst/>
              </a:prstGeom>
            </p:spPr>
            <p:txBody>
              <a:bodyPr anchor="ctr" rtlCol="false" tIns="76079" lIns="76079" bIns="76079" rIns="76079"/>
              <a:lstStyle/>
              <a:p>
                <a:pPr algn="ctr" marL="0" indent="0" lvl="0">
                  <a:lnSpc>
                    <a:spcPts val="275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1404648" y="77584"/>
              <a:ext cx="2439566" cy="1137084"/>
            </a:xfrm>
            <a:custGeom>
              <a:avLst/>
              <a:gdLst/>
              <a:ahLst/>
              <a:cxnLst/>
              <a:rect r="r" b="b" t="t" l="l"/>
              <a:pathLst>
                <a:path h="1137084" w="2439566">
                  <a:moveTo>
                    <a:pt x="0" y="0"/>
                  </a:moveTo>
                  <a:lnTo>
                    <a:pt x="2439565" y="0"/>
                  </a:lnTo>
                  <a:lnTo>
                    <a:pt x="2439565" y="1137084"/>
                  </a:lnTo>
                  <a:lnTo>
                    <a:pt x="0" y="1137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14545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 rot="0">
              <a:off x="2066215" y="152620"/>
              <a:ext cx="1065538" cy="684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73"/>
                </a:lnSpc>
                <a:spcBef>
                  <a:spcPct val="0"/>
                </a:spcBef>
              </a:pPr>
              <a:r>
                <a:rPr lang="en-US" b="true" sz="3260">
                  <a:solidFill>
                    <a:srgbClr val="F8F8F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03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1918906" y="1721615"/>
              <a:ext cx="1411050" cy="1362946"/>
            </a:xfrm>
            <a:custGeom>
              <a:avLst/>
              <a:gdLst/>
              <a:ahLst/>
              <a:cxnLst/>
              <a:rect r="r" b="b" t="t" l="l"/>
              <a:pathLst>
                <a:path h="1362946" w="1411050">
                  <a:moveTo>
                    <a:pt x="0" y="0"/>
                  </a:moveTo>
                  <a:lnTo>
                    <a:pt x="1411050" y="0"/>
                  </a:lnTo>
                  <a:lnTo>
                    <a:pt x="1411050" y="1362946"/>
                  </a:lnTo>
                  <a:lnTo>
                    <a:pt x="0" y="1362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93902" y="3956422"/>
              <a:ext cx="4661058" cy="37476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10"/>
                </a:lnSpc>
              </a:pPr>
              <a:r>
                <a:rPr lang="en-US" sz="2540">
                  <a:solidFill>
                    <a:srgbClr val="34343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 evaluate the performance of the machine learning models using appropriate evaluation metrics.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63820" y="3309171"/>
            <a:ext cx="3993809" cy="6752257"/>
            <a:chOff x="0" y="0"/>
            <a:chExt cx="5325078" cy="9003009"/>
          </a:xfrm>
        </p:grpSpPr>
        <p:grpSp>
          <p:nvGrpSpPr>
            <p:cNvPr name="Group 29" id="29"/>
            <p:cNvGrpSpPr/>
            <p:nvPr/>
          </p:nvGrpSpPr>
          <p:grpSpPr>
            <a:xfrm rot="-10800000">
              <a:off x="0" y="0"/>
              <a:ext cx="5325078" cy="9003009"/>
              <a:chOff x="0" y="0"/>
              <a:chExt cx="2041606" cy="3451705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041606" cy="3451705"/>
              </a:xfrm>
              <a:custGeom>
                <a:avLst/>
                <a:gdLst/>
                <a:ahLst/>
                <a:cxnLst/>
                <a:rect r="r" b="b" t="t" l="l"/>
                <a:pathLst>
                  <a:path h="3451705" w="2041606">
                    <a:moveTo>
                      <a:pt x="41420" y="0"/>
                    </a:moveTo>
                    <a:lnTo>
                      <a:pt x="2000186" y="0"/>
                    </a:lnTo>
                    <a:cubicBezTo>
                      <a:pt x="2023062" y="0"/>
                      <a:pt x="2041606" y="18544"/>
                      <a:pt x="2041606" y="41420"/>
                    </a:cubicBezTo>
                    <a:lnTo>
                      <a:pt x="2041606" y="3410284"/>
                    </a:lnTo>
                    <a:cubicBezTo>
                      <a:pt x="2041606" y="3433160"/>
                      <a:pt x="2023062" y="3451705"/>
                      <a:pt x="2000186" y="3451705"/>
                    </a:cubicBezTo>
                    <a:lnTo>
                      <a:pt x="41420" y="3451705"/>
                    </a:lnTo>
                    <a:cubicBezTo>
                      <a:pt x="18544" y="3451705"/>
                      <a:pt x="0" y="3433160"/>
                      <a:pt x="0" y="3410284"/>
                    </a:cubicBezTo>
                    <a:lnTo>
                      <a:pt x="0" y="41420"/>
                    </a:lnTo>
                    <a:cubicBezTo>
                      <a:pt x="0" y="18544"/>
                      <a:pt x="18544" y="0"/>
                      <a:pt x="414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106861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2041606" cy="3489805"/>
              </a:xfrm>
              <a:prstGeom prst="rect">
                <a:avLst/>
              </a:prstGeom>
            </p:spPr>
            <p:txBody>
              <a:bodyPr anchor="ctr" rtlCol="false" tIns="76079" lIns="76079" bIns="76079" rIns="76079"/>
              <a:lstStyle/>
              <a:p>
                <a:pPr algn="ctr" marL="0" indent="0" lvl="0">
                  <a:lnSpc>
                    <a:spcPts val="275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1826550" y="2025021"/>
              <a:ext cx="1595761" cy="1233088"/>
            </a:xfrm>
            <a:custGeom>
              <a:avLst/>
              <a:gdLst/>
              <a:ahLst/>
              <a:cxnLst/>
              <a:rect r="r" b="b" t="t" l="l"/>
              <a:pathLst>
                <a:path h="1233088" w="1595761">
                  <a:moveTo>
                    <a:pt x="0" y="0"/>
                  </a:moveTo>
                  <a:lnTo>
                    <a:pt x="1595761" y="0"/>
                  </a:lnTo>
                  <a:lnTo>
                    <a:pt x="1595761" y="1233088"/>
                  </a:lnTo>
                  <a:lnTo>
                    <a:pt x="0" y="1233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404648" y="0"/>
              <a:ext cx="2439566" cy="1137084"/>
            </a:xfrm>
            <a:custGeom>
              <a:avLst/>
              <a:gdLst/>
              <a:ahLst/>
              <a:cxnLst/>
              <a:rect r="r" b="b" t="t" l="l"/>
              <a:pathLst>
                <a:path h="1137084" w="2439566">
                  <a:moveTo>
                    <a:pt x="0" y="0"/>
                  </a:moveTo>
                  <a:lnTo>
                    <a:pt x="2439565" y="0"/>
                  </a:lnTo>
                  <a:lnTo>
                    <a:pt x="2439565" y="1137084"/>
                  </a:lnTo>
                  <a:lnTo>
                    <a:pt x="0" y="1137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14545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 rot="0">
              <a:off x="2066215" y="75036"/>
              <a:ext cx="1065538" cy="684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73"/>
                </a:lnSpc>
                <a:spcBef>
                  <a:spcPct val="0"/>
                </a:spcBef>
              </a:pPr>
              <a:r>
                <a:rPr lang="en-US" b="true" sz="3260">
                  <a:solidFill>
                    <a:srgbClr val="F8F8F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04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93902" y="3956422"/>
              <a:ext cx="4661058" cy="37476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10"/>
                </a:lnSpc>
              </a:pPr>
              <a:r>
                <a:rPr lang="en-US" sz="2540">
                  <a:solidFill>
                    <a:srgbClr val="34343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 integrate both crop and fertilizer recommendation models into a single user friendly web application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6514" y="560223"/>
            <a:ext cx="17332511" cy="9250247"/>
            <a:chOff x="0" y="0"/>
            <a:chExt cx="4564941" cy="24362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64941" cy="2436279"/>
            </a:xfrm>
            <a:custGeom>
              <a:avLst/>
              <a:gdLst/>
              <a:ahLst/>
              <a:cxnLst/>
              <a:rect r="r" b="b" t="t" l="l"/>
              <a:pathLst>
                <a:path h="2436279" w="4564941">
                  <a:moveTo>
                    <a:pt x="11167" y="0"/>
                  </a:moveTo>
                  <a:lnTo>
                    <a:pt x="4553774" y="0"/>
                  </a:lnTo>
                  <a:cubicBezTo>
                    <a:pt x="4556736" y="0"/>
                    <a:pt x="4559576" y="1176"/>
                    <a:pt x="4561670" y="3271"/>
                  </a:cubicBezTo>
                  <a:cubicBezTo>
                    <a:pt x="4563764" y="5365"/>
                    <a:pt x="4564941" y="8205"/>
                    <a:pt x="4564941" y="11167"/>
                  </a:cubicBezTo>
                  <a:lnTo>
                    <a:pt x="4564941" y="2425112"/>
                  </a:lnTo>
                  <a:cubicBezTo>
                    <a:pt x="4564941" y="2431280"/>
                    <a:pt x="4559941" y="2436279"/>
                    <a:pt x="4553774" y="2436279"/>
                  </a:cubicBezTo>
                  <a:lnTo>
                    <a:pt x="11167" y="2436279"/>
                  </a:lnTo>
                  <a:cubicBezTo>
                    <a:pt x="8205" y="2436279"/>
                    <a:pt x="5365" y="2435103"/>
                    <a:pt x="3271" y="2433008"/>
                  </a:cubicBezTo>
                  <a:cubicBezTo>
                    <a:pt x="1176" y="2430914"/>
                    <a:pt x="0" y="2428074"/>
                    <a:pt x="0" y="2425112"/>
                  </a:cubicBezTo>
                  <a:lnTo>
                    <a:pt x="0" y="11167"/>
                  </a:lnTo>
                  <a:cubicBezTo>
                    <a:pt x="0" y="5000"/>
                    <a:pt x="5000" y="0"/>
                    <a:pt x="11167" y="0"/>
                  </a:cubicBezTo>
                  <a:close/>
                </a:path>
              </a:pathLst>
            </a:custGeom>
            <a:solidFill>
              <a:srgbClr val="FDFBFB">
                <a:alpha val="9882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564941" cy="2455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5400000">
            <a:off x="1439667" y="4184400"/>
            <a:ext cx="1106595" cy="2273174"/>
          </a:xfrm>
          <a:custGeom>
            <a:avLst/>
            <a:gdLst/>
            <a:ahLst/>
            <a:cxnLst/>
            <a:rect r="r" b="b" t="t" l="l"/>
            <a:pathLst>
              <a:path h="2273174" w="1106595">
                <a:moveTo>
                  <a:pt x="0" y="0"/>
                </a:moveTo>
                <a:lnTo>
                  <a:pt x="1106595" y="0"/>
                </a:lnTo>
                <a:lnTo>
                  <a:pt x="1106595" y="2273174"/>
                </a:lnTo>
                <a:lnTo>
                  <a:pt x="0" y="2273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542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5400000">
            <a:off x="958608" y="4871045"/>
            <a:ext cx="2006479" cy="2006479"/>
          </a:xfrm>
          <a:custGeom>
            <a:avLst/>
            <a:gdLst/>
            <a:ahLst/>
            <a:cxnLst/>
            <a:rect r="r" b="b" t="t" l="l"/>
            <a:pathLst>
              <a:path h="2006479" w="2006479">
                <a:moveTo>
                  <a:pt x="0" y="0"/>
                </a:moveTo>
                <a:lnTo>
                  <a:pt x="2006479" y="0"/>
                </a:lnTo>
                <a:lnTo>
                  <a:pt x="2006479" y="2006478"/>
                </a:lnTo>
                <a:lnTo>
                  <a:pt x="0" y="20064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8" id="8"/>
          <p:cNvSpPr/>
          <p:nvPr/>
        </p:nvSpPr>
        <p:spPr>
          <a:xfrm>
            <a:off x="2025135" y="6980975"/>
            <a:ext cx="0" cy="530751"/>
          </a:xfrm>
          <a:prstGeom prst="line">
            <a:avLst/>
          </a:prstGeom>
          <a:ln cap="rnd" w="38100">
            <a:solidFill>
              <a:srgbClr val="106861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Freeform 9" id="9"/>
          <p:cNvSpPr/>
          <p:nvPr/>
        </p:nvSpPr>
        <p:spPr>
          <a:xfrm flipH="true" flipV="true" rot="-5400000">
            <a:off x="3773790" y="5291090"/>
            <a:ext cx="1106595" cy="2273174"/>
          </a:xfrm>
          <a:custGeom>
            <a:avLst/>
            <a:gdLst/>
            <a:ahLst/>
            <a:cxnLst/>
            <a:rect r="r" b="b" t="t" l="l"/>
            <a:pathLst>
              <a:path h="2273174" w="1106595">
                <a:moveTo>
                  <a:pt x="1106594" y="2273174"/>
                </a:moveTo>
                <a:lnTo>
                  <a:pt x="0" y="2273174"/>
                </a:lnTo>
                <a:lnTo>
                  <a:pt x="0" y="0"/>
                </a:lnTo>
                <a:lnTo>
                  <a:pt x="1106594" y="0"/>
                </a:lnTo>
                <a:lnTo>
                  <a:pt x="1106594" y="227317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0542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3323848" y="4871141"/>
            <a:ext cx="2006479" cy="2006479"/>
          </a:xfrm>
          <a:custGeom>
            <a:avLst/>
            <a:gdLst/>
            <a:ahLst/>
            <a:cxnLst/>
            <a:rect r="r" b="b" t="t" l="l"/>
            <a:pathLst>
              <a:path h="2006479" w="2006479">
                <a:moveTo>
                  <a:pt x="0" y="0"/>
                </a:moveTo>
                <a:lnTo>
                  <a:pt x="2006478" y="0"/>
                </a:lnTo>
                <a:lnTo>
                  <a:pt x="2006478" y="2006478"/>
                </a:lnTo>
                <a:lnTo>
                  <a:pt x="0" y="20064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4293658" y="4361152"/>
            <a:ext cx="3506" cy="509783"/>
          </a:xfrm>
          <a:prstGeom prst="line">
            <a:avLst/>
          </a:prstGeom>
          <a:ln cap="rnd" w="38100">
            <a:solidFill>
              <a:srgbClr val="27CCBE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AutoShape 12" id="12"/>
          <p:cNvSpPr/>
          <p:nvPr/>
        </p:nvSpPr>
        <p:spPr>
          <a:xfrm>
            <a:off x="6695630" y="6981075"/>
            <a:ext cx="0" cy="530751"/>
          </a:xfrm>
          <a:prstGeom prst="line">
            <a:avLst/>
          </a:prstGeom>
          <a:ln cap="rnd" w="38100">
            <a:solidFill>
              <a:srgbClr val="106861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>
            <a:off x="11320875" y="7005813"/>
            <a:ext cx="0" cy="530751"/>
          </a:xfrm>
          <a:prstGeom prst="line">
            <a:avLst/>
          </a:prstGeom>
          <a:ln cap="rnd" w="38100">
            <a:solidFill>
              <a:srgbClr val="106861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546024" y="5368773"/>
            <a:ext cx="831645" cy="1058808"/>
          </a:xfrm>
          <a:custGeom>
            <a:avLst/>
            <a:gdLst/>
            <a:ahLst/>
            <a:cxnLst/>
            <a:rect r="r" b="b" t="t" l="l"/>
            <a:pathLst>
              <a:path h="1058808" w="831645">
                <a:moveTo>
                  <a:pt x="0" y="0"/>
                </a:moveTo>
                <a:lnTo>
                  <a:pt x="831646" y="0"/>
                </a:lnTo>
                <a:lnTo>
                  <a:pt x="831646" y="1058808"/>
                </a:lnTo>
                <a:lnTo>
                  <a:pt x="0" y="10588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5" id="15"/>
          <p:cNvSpPr/>
          <p:nvPr/>
        </p:nvSpPr>
        <p:spPr>
          <a:xfrm>
            <a:off x="16040409" y="6981075"/>
            <a:ext cx="0" cy="530751"/>
          </a:xfrm>
          <a:prstGeom prst="line">
            <a:avLst/>
          </a:prstGeom>
          <a:ln cap="rnd" w="38100">
            <a:solidFill>
              <a:srgbClr val="106861"/>
            </a:solidFill>
            <a:prstDash val="sysDot"/>
            <a:headEnd type="none" len="sm" w="sm"/>
            <a:tailEnd type="oval" len="lg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5559043" y="4751668"/>
            <a:ext cx="2273174" cy="2109834"/>
            <a:chOff x="0" y="0"/>
            <a:chExt cx="3030899" cy="2813112"/>
          </a:xfrm>
        </p:grpSpPr>
        <p:sp>
          <p:nvSpPr>
            <p:cNvPr name="Freeform 17" id="17"/>
            <p:cNvSpPr/>
            <p:nvPr/>
          </p:nvSpPr>
          <p:spPr>
            <a:xfrm flipH="false" flipV="false" rot="-5400000">
              <a:off x="777720" y="-777720"/>
              <a:ext cx="1475460" cy="3030899"/>
            </a:xfrm>
            <a:custGeom>
              <a:avLst/>
              <a:gdLst/>
              <a:ahLst/>
              <a:cxnLst/>
              <a:rect r="r" b="b" t="t" l="l"/>
              <a:pathLst>
                <a:path h="3030899" w="1475460">
                  <a:moveTo>
                    <a:pt x="0" y="0"/>
                  </a:moveTo>
                  <a:lnTo>
                    <a:pt x="1475459" y="0"/>
                  </a:lnTo>
                  <a:lnTo>
                    <a:pt x="1475459" y="3030899"/>
                  </a:lnTo>
                  <a:lnTo>
                    <a:pt x="0" y="3030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10542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6307" y="137807"/>
              <a:ext cx="2675305" cy="2675305"/>
            </a:xfrm>
            <a:custGeom>
              <a:avLst/>
              <a:gdLst/>
              <a:ahLst/>
              <a:cxnLst/>
              <a:rect r="r" b="b" t="t" l="l"/>
              <a:pathLst>
                <a:path h="2675305" w="2675305">
                  <a:moveTo>
                    <a:pt x="0" y="0"/>
                  </a:moveTo>
                  <a:lnTo>
                    <a:pt x="2675305" y="0"/>
                  </a:lnTo>
                  <a:lnTo>
                    <a:pt x="2675305" y="2675305"/>
                  </a:lnTo>
                  <a:lnTo>
                    <a:pt x="0" y="2675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754600" y="801318"/>
              <a:ext cx="1301334" cy="1303704"/>
            </a:xfrm>
            <a:custGeom>
              <a:avLst/>
              <a:gdLst/>
              <a:ahLst/>
              <a:cxnLst/>
              <a:rect r="r" b="b" t="t" l="l"/>
              <a:pathLst>
                <a:path h="1303704" w="1301334">
                  <a:moveTo>
                    <a:pt x="0" y="0"/>
                  </a:moveTo>
                  <a:lnTo>
                    <a:pt x="1301334" y="0"/>
                  </a:lnTo>
                  <a:lnTo>
                    <a:pt x="1301334" y="1303704"/>
                  </a:lnTo>
                  <a:lnTo>
                    <a:pt x="0" y="1303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3832650" y="5438063"/>
            <a:ext cx="920553" cy="872634"/>
          </a:xfrm>
          <a:custGeom>
            <a:avLst/>
            <a:gdLst/>
            <a:ahLst/>
            <a:cxnLst/>
            <a:rect r="r" b="b" t="t" l="l"/>
            <a:pathLst>
              <a:path h="872634" w="920553">
                <a:moveTo>
                  <a:pt x="0" y="0"/>
                </a:moveTo>
                <a:lnTo>
                  <a:pt x="920554" y="0"/>
                </a:lnTo>
                <a:lnTo>
                  <a:pt x="920554" y="872634"/>
                </a:lnTo>
                <a:lnTo>
                  <a:pt x="0" y="87263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796814" y="4361021"/>
            <a:ext cx="2273174" cy="2619954"/>
            <a:chOff x="0" y="0"/>
            <a:chExt cx="3030899" cy="3493271"/>
          </a:xfrm>
        </p:grpSpPr>
        <p:sp>
          <p:nvSpPr>
            <p:cNvPr name="Freeform 22" id="22"/>
            <p:cNvSpPr/>
            <p:nvPr/>
          </p:nvSpPr>
          <p:spPr>
            <a:xfrm flipH="true" flipV="true" rot="-5400000">
              <a:off x="777720" y="1240092"/>
              <a:ext cx="1475460" cy="3030899"/>
            </a:xfrm>
            <a:custGeom>
              <a:avLst/>
              <a:gdLst/>
              <a:ahLst/>
              <a:cxnLst/>
              <a:rect r="r" b="b" t="t" l="l"/>
              <a:pathLst>
                <a:path h="3030899" w="1475460">
                  <a:moveTo>
                    <a:pt x="1475459" y="3030899"/>
                  </a:moveTo>
                  <a:lnTo>
                    <a:pt x="0" y="3030899"/>
                  </a:lnTo>
                  <a:lnTo>
                    <a:pt x="0" y="0"/>
                  </a:lnTo>
                  <a:lnTo>
                    <a:pt x="1475459" y="0"/>
                  </a:lnTo>
                  <a:lnTo>
                    <a:pt x="1475459" y="3030899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10542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-5400000">
              <a:off x="177797" y="680159"/>
              <a:ext cx="2675305" cy="2675305"/>
            </a:xfrm>
            <a:custGeom>
              <a:avLst/>
              <a:gdLst/>
              <a:ahLst/>
              <a:cxnLst/>
              <a:rect r="r" b="b" t="t" l="l"/>
              <a:pathLst>
                <a:path h="2675305" w="2675305">
                  <a:moveTo>
                    <a:pt x="0" y="0"/>
                  </a:moveTo>
                  <a:lnTo>
                    <a:pt x="2675305" y="0"/>
                  </a:lnTo>
                  <a:lnTo>
                    <a:pt x="2675305" y="2675305"/>
                  </a:lnTo>
                  <a:lnTo>
                    <a:pt x="0" y="2675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AutoShape 24" id="24"/>
            <p:cNvSpPr/>
            <p:nvPr/>
          </p:nvSpPr>
          <p:spPr>
            <a:xfrm flipH="true" flipV="true">
              <a:off x="1470877" y="175"/>
              <a:ext cx="4675" cy="679710"/>
            </a:xfrm>
            <a:prstGeom prst="line">
              <a:avLst/>
            </a:prstGeom>
            <a:ln cap="rnd" w="50800">
              <a:solidFill>
                <a:srgbClr val="27CCBE"/>
              </a:solidFill>
              <a:prstDash val="sysDot"/>
              <a:headEnd type="none" len="sm" w="sm"/>
              <a:tailEnd type="oval" len="lg" w="lg"/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46056" y="1435928"/>
              <a:ext cx="1737907" cy="1068023"/>
            </a:xfrm>
            <a:custGeom>
              <a:avLst/>
              <a:gdLst/>
              <a:ahLst/>
              <a:cxnLst/>
              <a:rect r="r" b="b" t="t" l="l"/>
              <a:pathLst>
                <a:path h="1068023" w="1737907">
                  <a:moveTo>
                    <a:pt x="0" y="0"/>
                  </a:moveTo>
                  <a:lnTo>
                    <a:pt x="1737907" y="0"/>
                  </a:lnTo>
                  <a:lnTo>
                    <a:pt x="1737907" y="1068022"/>
                  </a:lnTo>
                  <a:lnTo>
                    <a:pt x="0" y="10680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165238" y="4767785"/>
            <a:ext cx="2273174" cy="2109834"/>
            <a:chOff x="0" y="0"/>
            <a:chExt cx="3030899" cy="2813112"/>
          </a:xfrm>
        </p:grpSpPr>
        <p:sp>
          <p:nvSpPr>
            <p:cNvPr name="Freeform 27" id="27"/>
            <p:cNvSpPr/>
            <p:nvPr/>
          </p:nvSpPr>
          <p:spPr>
            <a:xfrm flipH="false" flipV="false" rot="-5400000">
              <a:off x="777720" y="-777720"/>
              <a:ext cx="1475460" cy="3030899"/>
            </a:xfrm>
            <a:custGeom>
              <a:avLst/>
              <a:gdLst/>
              <a:ahLst/>
              <a:cxnLst/>
              <a:rect r="r" b="b" t="t" l="l"/>
              <a:pathLst>
                <a:path h="3030899" w="1475460">
                  <a:moveTo>
                    <a:pt x="0" y="0"/>
                  </a:moveTo>
                  <a:lnTo>
                    <a:pt x="1475459" y="0"/>
                  </a:lnTo>
                  <a:lnTo>
                    <a:pt x="1475459" y="3030899"/>
                  </a:lnTo>
                  <a:lnTo>
                    <a:pt x="0" y="3030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10542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8" id="28"/>
            <p:cNvSpPr/>
            <p:nvPr/>
          </p:nvSpPr>
          <p:spPr>
            <a:xfrm flipH="false" flipV="false" rot="-5400000">
              <a:off x="136307" y="137807"/>
              <a:ext cx="2675305" cy="2675305"/>
            </a:xfrm>
            <a:custGeom>
              <a:avLst/>
              <a:gdLst/>
              <a:ahLst/>
              <a:cxnLst/>
              <a:rect r="r" b="b" t="t" l="l"/>
              <a:pathLst>
                <a:path h="2675305" w="2675305">
                  <a:moveTo>
                    <a:pt x="0" y="0"/>
                  </a:moveTo>
                  <a:lnTo>
                    <a:pt x="2675305" y="0"/>
                  </a:lnTo>
                  <a:lnTo>
                    <a:pt x="2675305" y="2675305"/>
                  </a:lnTo>
                  <a:lnTo>
                    <a:pt x="0" y="2675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939885" y="846572"/>
              <a:ext cx="1190160" cy="1162029"/>
            </a:xfrm>
            <a:custGeom>
              <a:avLst/>
              <a:gdLst/>
              <a:ahLst/>
              <a:cxnLst/>
              <a:rect r="r" b="b" t="t" l="l"/>
              <a:pathLst>
                <a:path h="1162029" w="1190160">
                  <a:moveTo>
                    <a:pt x="0" y="0"/>
                  </a:moveTo>
                  <a:lnTo>
                    <a:pt x="1190160" y="0"/>
                  </a:lnTo>
                  <a:lnTo>
                    <a:pt x="1190160" y="1162029"/>
                  </a:lnTo>
                  <a:lnTo>
                    <a:pt x="0" y="1162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true" flipV="true" rot="-5400000">
            <a:off x="13116951" y="5291221"/>
            <a:ext cx="1106595" cy="2273174"/>
          </a:xfrm>
          <a:custGeom>
            <a:avLst/>
            <a:gdLst/>
            <a:ahLst/>
            <a:cxnLst/>
            <a:rect r="r" b="b" t="t" l="l"/>
            <a:pathLst>
              <a:path h="2273174" w="1106595">
                <a:moveTo>
                  <a:pt x="1106595" y="2273174"/>
                </a:moveTo>
                <a:lnTo>
                  <a:pt x="0" y="2273174"/>
                </a:lnTo>
                <a:lnTo>
                  <a:pt x="0" y="0"/>
                </a:lnTo>
                <a:lnTo>
                  <a:pt x="1106595" y="0"/>
                </a:lnTo>
                <a:lnTo>
                  <a:pt x="1106595" y="227317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0542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-5400000">
            <a:off x="12667009" y="4871272"/>
            <a:ext cx="2006479" cy="2006479"/>
          </a:xfrm>
          <a:custGeom>
            <a:avLst/>
            <a:gdLst/>
            <a:ahLst/>
            <a:cxnLst/>
            <a:rect r="r" b="b" t="t" l="l"/>
            <a:pathLst>
              <a:path h="2006479" w="2006479">
                <a:moveTo>
                  <a:pt x="0" y="0"/>
                </a:moveTo>
                <a:lnTo>
                  <a:pt x="2006479" y="0"/>
                </a:lnTo>
                <a:lnTo>
                  <a:pt x="2006479" y="2006478"/>
                </a:lnTo>
                <a:lnTo>
                  <a:pt x="0" y="20064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636819" y="4361283"/>
            <a:ext cx="3506" cy="509783"/>
          </a:xfrm>
          <a:prstGeom prst="line">
            <a:avLst/>
          </a:prstGeom>
          <a:ln cap="rnd" w="38100">
            <a:solidFill>
              <a:srgbClr val="27CCBE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13154819" y="5386369"/>
            <a:ext cx="1003510" cy="996212"/>
          </a:xfrm>
          <a:custGeom>
            <a:avLst/>
            <a:gdLst/>
            <a:ahLst/>
            <a:cxnLst/>
            <a:rect r="r" b="b" t="t" l="l"/>
            <a:pathLst>
              <a:path h="996212" w="1003510">
                <a:moveTo>
                  <a:pt x="0" y="0"/>
                </a:moveTo>
                <a:lnTo>
                  <a:pt x="1003510" y="0"/>
                </a:lnTo>
                <a:lnTo>
                  <a:pt x="1003510" y="996211"/>
                </a:lnTo>
                <a:lnTo>
                  <a:pt x="0" y="99621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4903822" y="4767785"/>
            <a:ext cx="2273174" cy="2109834"/>
            <a:chOff x="0" y="0"/>
            <a:chExt cx="3030899" cy="2813112"/>
          </a:xfrm>
        </p:grpSpPr>
        <p:sp>
          <p:nvSpPr>
            <p:cNvPr name="Freeform 35" id="35"/>
            <p:cNvSpPr/>
            <p:nvPr/>
          </p:nvSpPr>
          <p:spPr>
            <a:xfrm flipH="false" flipV="false" rot="-5400000">
              <a:off x="777720" y="-777720"/>
              <a:ext cx="1475460" cy="3030899"/>
            </a:xfrm>
            <a:custGeom>
              <a:avLst/>
              <a:gdLst/>
              <a:ahLst/>
              <a:cxnLst/>
              <a:rect r="r" b="b" t="t" l="l"/>
              <a:pathLst>
                <a:path h="3030899" w="1475460">
                  <a:moveTo>
                    <a:pt x="0" y="0"/>
                  </a:moveTo>
                  <a:lnTo>
                    <a:pt x="1475459" y="0"/>
                  </a:lnTo>
                  <a:lnTo>
                    <a:pt x="1475459" y="3030899"/>
                  </a:lnTo>
                  <a:lnTo>
                    <a:pt x="0" y="3030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10542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6" id="36"/>
            <p:cNvSpPr/>
            <p:nvPr/>
          </p:nvSpPr>
          <p:spPr>
            <a:xfrm flipH="false" flipV="false" rot="-5400000">
              <a:off x="136307" y="137807"/>
              <a:ext cx="2675305" cy="2675305"/>
            </a:xfrm>
            <a:custGeom>
              <a:avLst/>
              <a:gdLst/>
              <a:ahLst/>
              <a:cxnLst/>
              <a:rect r="r" b="b" t="t" l="l"/>
              <a:pathLst>
                <a:path h="2675305" w="2675305">
                  <a:moveTo>
                    <a:pt x="0" y="0"/>
                  </a:moveTo>
                  <a:lnTo>
                    <a:pt x="2675305" y="0"/>
                  </a:lnTo>
                  <a:lnTo>
                    <a:pt x="2675305" y="2675305"/>
                  </a:lnTo>
                  <a:lnTo>
                    <a:pt x="0" y="2675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741137" y="879000"/>
              <a:ext cx="1584457" cy="1192664"/>
            </a:xfrm>
            <a:custGeom>
              <a:avLst/>
              <a:gdLst/>
              <a:ahLst/>
              <a:cxnLst/>
              <a:rect r="r" b="b" t="t" l="l"/>
              <a:pathLst>
                <a:path h="1192664" w="1584457">
                  <a:moveTo>
                    <a:pt x="0" y="0"/>
                  </a:moveTo>
                  <a:lnTo>
                    <a:pt x="1584457" y="0"/>
                  </a:lnTo>
                  <a:lnTo>
                    <a:pt x="1584457" y="1192663"/>
                  </a:lnTo>
                  <a:lnTo>
                    <a:pt x="0" y="1192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327902" y="1597213"/>
            <a:ext cx="8721434" cy="86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78"/>
              </a:lnSpc>
              <a:spcBef>
                <a:spcPct val="0"/>
              </a:spcBef>
            </a:pPr>
            <a:r>
              <a:rPr lang="en-US" b="true" sz="5127" spc="-102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Methodology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6377" y="7603893"/>
            <a:ext cx="2337516" cy="84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8"/>
              </a:lnSpc>
            </a:pPr>
            <a:r>
              <a:rPr lang="en-US" sz="2670" b="true">
                <a:solidFill>
                  <a:srgbClr val="3434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</a:t>
            </a:r>
          </a:p>
          <a:p>
            <a:pPr algn="ctr" marL="0" indent="0" lvl="0">
              <a:lnSpc>
                <a:spcPts val="3418"/>
              </a:lnSpc>
              <a:spcBef>
                <a:spcPct val="0"/>
              </a:spcBef>
            </a:pPr>
            <a:r>
              <a:rPr lang="en-US" b="true" sz="2670">
                <a:solidFill>
                  <a:srgbClr val="3434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Identification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158329" y="3153144"/>
            <a:ext cx="2337516" cy="84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  <a:spcBef>
                <a:spcPct val="0"/>
              </a:spcBef>
            </a:pPr>
            <a:r>
              <a:rPr lang="en-US" b="true" sz="2670">
                <a:solidFill>
                  <a:srgbClr val="3434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Collection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495845" y="7605374"/>
            <a:ext cx="2564286" cy="84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  <a:spcBef>
                <a:spcPct val="0"/>
              </a:spcBef>
            </a:pPr>
            <a:r>
              <a:rPr lang="en-US" b="true" sz="2670">
                <a:solidFill>
                  <a:srgbClr val="3434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Preprocessing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500073" y="3139577"/>
            <a:ext cx="2996540" cy="84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8"/>
              </a:lnSpc>
            </a:pPr>
            <a:r>
              <a:rPr lang="en-US" sz="2670" b="true">
                <a:solidFill>
                  <a:srgbClr val="3434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</a:t>
            </a:r>
          </a:p>
          <a:p>
            <a:pPr algn="ctr" marL="0" indent="0" lvl="0">
              <a:lnSpc>
                <a:spcPts val="3418"/>
              </a:lnSpc>
              <a:spcBef>
                <a:spcPct val="0"/>
              </a:spcBef>
            </a:pPr>
            <a:r>
              <a:rPr lang="en-US" b="true" sz="2670">
                <a:solidFill>
                  <a:srgbClr val="3434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Training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16456" y="7645708"/>
            <a:ext cx="2337516" cy="84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  <a:spcBef>
                <a:spcPct val="0"/>
              </a:spcBef>
            </a:pPr>
            <a:r>
              <a:rPr lang="en-US" b="true" sz="2670">
                <a:solidFill>
                  <a:srgbClr val="3434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Evaluation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156531" y="3139577"/>
            <a:ext cx="3027436" cy="84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  <a:spcBef>
                <a:spcPct val="0"/>
              </a:spcBef>
            </a:pPr>
            <a:r>
              <a:rPr lang="en-US" b="true" sz="2670">
                <a:solidFill>
                  <a:srgbClr val="3434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Web Application Development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921784" y="7605374"/>
            <a:ext cx="2337516" cy="84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  <a:spcBef>
                <a:spcPct val="0"/>
              </a:spcBef>
            </a:pPr>
            <a:r>
              <a:rPr lang="en-US" b="true" sz="2670">
                <a:solidFill>
                  <a:srgbClr val="3434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Testing &amp; Deployment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9961" y="10060764"/>
            <a:ext cx="452472" cy="45247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/>
            </a:solidFill>
            <a:ln w="742950" cap="sq">
              <a:solidFill>
                <a:srgbClr val="10686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17929" y="-2533783"/>
            <a:ext cx="5002094" cy="50020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>
                <a:alpha val="32941"/>
              </a:srgbClr>
            </a:solidFill>
            <a:ln w="742950" cap="sq">
              <a:solidFill>
                <a:srgbClr val="106861">
                  <a:alpha val="32941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3111058"/>
            <a:ext cx="1427503" cy="1425743"/>
            <a:chOff x="0" y="0"/>
            <a:chExt cx="323431" cy="3230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3431" cy="323032"/>
            </a:xfrm>
            <a:custGeom>
              <a:avLst/>
              <a:gdLst/>
              <a:ahLst/>
              <a:cxnLst/>
              <a:rect r="r" b="b" t="t" l="l"/>
              <a:pathLst>
                <a:path h="323032" w="323431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7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91709" y="-467636"/>
            <a:ext cx="1183417" cy="118341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/>
            </a:solidFill>
            <a:ln w="742950" cap="sq">
              <a:solidFill>
                <a:srgbClr val="10686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10800000">
            <a:off x="11243507" y="5348626"/>
            <a:ext cx="5961622" cy="443628"/>
          </a:xfrm>
          <a:custGeom>
            <a:avLst/>
            <a:gdLst/>
            <a:ahLst/>
            <a:cxnLst/>
            <a:rect r="r" b="b" t="t" l="l"/>
            <a:pathLst>
              <a:path h="443628" w="5961622">
                <a:moveTo>
                  <a:pt x="0" y="0"/>
                </a:moveTo>
                <a:lnTo>
                  <a:pt x="5961622" y="0"/>
                </a:lnTo>
                <a:lnTo>
                  <a:pt x="5961622" y="443627"/>
                </a:lnTo>
                <a:lnTo>
                  <a:pt x="0" y="443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-286352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674808" y="2599588"/>
            <a:ext cx="7099019" cy="2775914"/>
            <a:chOff x="0" y="0"/>
            <a:chExt cx="1234628" cy="4827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4628" cy="482774"/>
            </a:xfrm>
            <a:custGeom>
              <a:avLst/>
              <a:gdLst/>
              <a:ahLst/>
              <a:cxnLst/>
              <a:rect r="r" b="b" t="t" l="l"/>
              <a:pathLst>
                <a:path h="482774" w="1234628">
                  <a:moveTo>
                    <a:pt x="34898" y="0"/>
                  </a:moveTo>
                  <a:lnTo>
                    <a:pt x="1199730" y="0"/>
                  </a:lnTo>
                  <a:cubicBezTo>
                    <a:pt x="1208985" y="0"/>
                    <a:pt x="1217862" y="3677"/>
                    <a:pt x="1224406" y="10221"/>
                  </a:cubicBezTo>
                  <a:cubicBezTo>
                    <a:pt x="1230951" y="16766"/>
                    <a:pt x="1234628" y="25642"/>
                    <a:pt x="1234628" y="34898"/>
                  </a:cubicBezTo>
                  <a:lnTo>
                    <a:pt x="1234628" y="447876"/>
                  </a:lnTo>
                  <a:cubicBezTo>
                    <a:pt x="1234628" y="467149"/>
                    <a:pt x="1219003" y="482774"/>
                    <a:pt x="1199730" y="482774"/>
                  </a:cubicBezTo>
                  <a:lnTo>
                    <a:pt x="34898" y="482774"/>
                  </a:lnTo>
                  <a:cubicBezTo>
                    <a:pt x="15624" y="482774"/>
                    <a:pt x="0" y="467149"/>
                    <a:pt x="0" y="447876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FFFFFF"/>
            </a:solidFill>
            <a:ln w="104775" cap="rnd">
              <a:solidFill>
                <a:srgbClr val="106861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34628" cy="520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57752" y="3202261"/>
            <a:ext cx="1634114" cy="1632099"/>
            <a:chOff x="0" y="0"/>
            <a:chExt cx="323431" cy="3230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3431" cy="323032"/>
            </a:xfrm>
            <a:custGeom>
              <a:avLst/>
              <a:gdLst/>
              <a:ahLst/>
              <a:cxnLst/>
              <a:rect r="r" b="b" t="t" l="l"/>
              <a:pathLst>
                <a:path h="323032" w="323431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76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284999" y="3494303"/>
            <a:ext cx="1048013" cy="1048013"/>
          </a:xfrm>
          <a:custGeom>
            <a:avLst/>
            <a:gdLst/>
            <a:ahLst/>
            <a:cxnLst/>
            <a:rect r="r" b="b" t="t" l="l"/>
            <a:pathLst>
              <a:path h="1048013" w="1048013">
                <a:moveTo>
                  <a:pt x="0" y="0"/>
                </a:moveTo>
                <a:lnTo>
                  <a:pt x="1048013" y="0"/>
                </a:lnTo>
                <a:lnTo>
                  <a:pt x="1048013" y="1048014"/>
                </a:lnTo>
                <a:lnTo>
                  <a:pt x="0" y="10480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-285750" y="3104837"/>
            <a:ext cx="1410142" cy="1408404"/>
            <a:chOff x="0" y="0"/>
            <a:chExt cx="323431" cy="3230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3431" cy="323032"/>
            </a:xfrm>
            <a:custGeom>
              <a:avLst/>
              <a:gdLst/>
              <a:ahLst/>
              <a:cxnLst/>
              <a:rect r="r" b="b" t="t" l="l"/>
              <a:pathLst>
                <a:path h="323032" w="323431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76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10800000">
            <a:off x="1788223" y="5315193"/>
            <a:ext cx="5889120" cy="438232"/>
          </a:xfrm>
          <a:custGeom>
            <a:avLst/>
            <a:gdLst/>
            <a:ahLst/>
            <a:cxnLst/>
            <a:rect r="r" b="b" t="t" l="l"/>
            <a:pathLst>
              <a:path h="438232" w="5889120">
                <a:moveTo>
                  <a:pt x="0" y="0"/>
                </a:moveTo>
                <a:lnTo>
                  <a:pt x="5889120" y="0"/>
                </a:lnTo>
                <a:lnTo>
                  <a:pt x="5889120" y="438233"/>
                </a:lnTo>
                <a:lnTo>
                  <a:pt x="0" y="438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-286352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226441" y="2599588"/>
            <a:ext cx="7012684" cy="2742154"/>
            <a:chOff x="0" y="0"/>
            <a:chExt cx="1234628" cy="48277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34628" cy="482774"/>
            </a:xfrm>
            <a:custGeom>
              <a:avLst/>
              <a:gdLst/>
              <a:ahLst/>
              <a:cxnLst/>
              <a:rect r="r" b="b" t="t" l="l"/>
              <a:pathLst>
                <a:path h="482774" w="1234628">
                  <a:moveTo>
                    <a:pt x="35328" y="0"/>
                  </a:moveTo>
                  <a:lnTo>
                    <a:pt x="1199300" y="0"/>
                  </a:lnTo>
                  <a:cubicBezTo>
                    <a:pt x="1208670" y="0"/>
                    <a:pt x="1217655" y="3722"/>
                    <a:pt x="1224280" y="10347"/>
                  </a:cubicBezTo>
                  <a:cubicBezTo>
                    <a:pt x="1230906" y="16972"/>
                    <a:pt x="1234628" y="25958"/>
                    <a:pt x="1234628" y="35328"/>
                  </a:cubicBezTo>
                  <a:lnTo>
                    <a:pt x="1234628" y="447446"/>
                  </a:lnTo>
                  <a:cubicBezTo>
                    <a:pt x="1234628" y="466957"/>
                    <a:pt x="1218811" y="482774"/>
                    <a:pt x="1199300" y="482774"/>
                  </a:cubicBezTo>
                  <a:lnTo>
                    <a:pt x="35328" y="482774"/>
                  </a:lnTo>
                  <a:cubicBezTo>
                    <a:pt x="15817" y="482774"/>
                    <a:pt x="0" y="466957"/>
                    <a:pt x="0" y="447446"/>
                  </a:cubicBezTo>
                  <a:lnTo>
                    <a:pt x="0" y="35328"/>
                  </a:lnTo>
                  <a:cubicBezTo>
                    <a:pt x="0" y="15817"/>
                    <a:pt x="15817" y="0"/>
                    <a:pt x="35328" y="0"/>
                  </a:cubicBezTo>
                  <a:close/>
                </a:path>
              </a:pathLst>
            </a:custGeom>
            <a:solidFill>
              <a:srgbClr val="FFFFFF"/>
            </a:solidFill>
            <a:ln w="104775" cap="rnd">
              <a:solidFill>
                <a:srgbClr val="106861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34628" cy="520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19321" y="3194931"/>
            <a:ext cx="1614240" cy="1612250"/>
            <a:chOff x="0" y="0"/>
            <a:chExt cx="323431" cy="3230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3431" cy="323032"/>
            </a:xfrm>
            <a:custGeom>
              <a:avLst/>
              <a:gdLst/>
              <a:ahLst/>
              <a:cxnLst/>
              <a:rect r="r" b="b" t="t" l="l"/>
              <a:pathLst>
                <a:path h="323032" w="323431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76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19569" y="3483422"/>
            <a:ext cx="1053129" cy="1066706"/>
          </a:xfrm>
          <a:custGeom>
            <a:avLst/>
            <a:gdLst/>
            <a:ahLst/>
            <a:cxnLst/>
            <a:rect r="r" b="b" t="t" l="l"/>
            <a:pathLst>
              <a:path h="1066706" w="1053129">
                <a:moveTo>
                  <a:pt x="0" y="0"/>
                </a:moveTo>
                <a:lnTo>
                  <a:pt x="1053130" y="0"/>
                </a:lnTo>
                <a:lnTo>
                  <a:pt x="1053130" y="1066706"/>
                </a:lnTo>
                <a:lnTo>
                  <a:pt x="0" y="10667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3" id="33"/>
          <p:cNvGrpSpPr/>
          <p:nvPr/>
        </p:nvGrpSpPr>
        <p:grpSpPr>
          <a:xfrm rot="0">
            <a:off x="-285750" y="7220406"/>
            <a:ext cx="1373571" cy="1371877"/>
            <a:chOff x="0" y="0"/>
            <a:chExt cx="323431" cy="3230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3431" cy="323032"/>
            </a:xfrm>
            <a:custGeom>
              <a:avLst/>
              <a:gdLst/>
              <a:ahLst/>
              <a:cxnLst/>
              <a:rect r="r" b="b" t="t" l="l"/>
              <a:pathLst>
                <a:path h="323032" w="323431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76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-10800000">
            <a:off x="1734436" y="9373437"/>
            <a:ext cx="5736389" cy="426867"/>
          </a:xfrm>
          <a:custGeom>
            <a:avLst/>
            <a:gdLst/>
            <a:ahLst/>
            <a:cxnLst/>
            <a:rect r="r" b="b" t="t" l="l"/>
            <a:pathLst>
              <a:path h="426867" w="5736389">
                <a:moveTo>
                  <a:pt x="0" y="0"/>
                </a:moveTo>
                <a:lnTo>
                  <a:pt x="5736389" y="0"/>
                </a:lnTo>
                <a:lnTo>
                  <a:pt x="5736389" y="426867"/>
                </a:lnTo>
                <a:lnTo>
                  <a:pt x="0" y="426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-286352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187224" y="6728259"/>
            <a:ext cx="6830814" cy="2671038"/>
            <a:chOff x="0" y="0"/>
            <a:chExt cx="1234628" cy="4827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34628" cy="482774"/>
            </a:xfrm>
            <a:custGeom>
              <a:avLst/>
              <a:gdLst/>
              <a:ahLst/>
              <a:cxnLst/>
              <a:rect r="r" b="b" t="t" l="l"/>
              <a:pathLst>
                <a:path h="482774" w="1234628">
                  <a:moveTo>
                    <a:pt x="36268" y="0"/>
                  </a:moveTo>
                  <a:lnTo>
                    <a:pt x="1198359" y="0"/>
                  </a:lnTo>
                  <a:cubicBezTo>
                    <a:pt x="1207978" y="0"/>
                    <a:pt x="1217203" y="3821"/>
                    <a:pt x="1224005" y="10623"/>
                  </a:cubicBezTo>
                  <a:cubicBezTo>
                    <a:pt x="1230807" y="17424"/>
                    <a:pt x="1234628" y="26649"/>
                    <a:pt x="1234628" y="36268"/>
                  </a:cubicBezTo>
                  <a:lnTo>
                    <a:pt x="1234628" y="446506"/>
                  </a:lnTo>
                  <a:cubicBezTo>
                    <a:pt x="1234628" y="456124"/>
                    <a:pt x="1230807" y="465349"/>
                    <a:pt x="1224005" y="472151"/>
                  </a:cubicBezTo>
                  <a:cubicBezTo>
                    <a:pt x="1217203" y="478953"/>
                    <a:pt x="1207978" y="482774"/>
                    <a:pt x="1198359" y="482774"/>
                  </a:cubicBezTo>
                  <a:lnTo>
                    <a:pt x="36268" y="482774"/>
                  </a:lnTo>
                  <a:cubicBezTo>
                    <a:pt x="26649" y="482774"/>
                    <a:pt x="17424" y="478953"/>
                    <a:pt x="10623" y="472151"/>
                  </a:cubicBezTo>
                  <a:cubicBezTo>
                    <a:pt x="3821" y="465349"/>
                    <a:pt x="0" y="456124"/>
                    <a:pt x="0" y="446506"/>
                  </a:cubicBezTo>
                  <a:lnTo>
                    <a:pt x="0" y="36268"/>
                  </a:lnTo>
                  <a:cubicBezTo>
                    <a:pt x="0" y="26649"/>
                    <a:pt x="3821" y="17424"/>
                    <a:pt x="10623" y="10623"/>
                  </a:cubicBezTo>
                  <a:cubicBezTo>
                    <a:pt x="17424" y="3821"/>
                    <a:pt x="26649" y="0"/>
                    <a:pt x="36268" y="0"/>
                  </a:cubicBezTo>
                  <a:close/>
                </a:path>
              </a:pathLst>
            </a:custGeom>
            <a:solidFill>
              <a:srgbClr val="FFFFFF"/>
            </a:solidFill>
            <a:ln w="104775" cap="rnd">
              <a:solidFill>
                <a:srgbClr val="106861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34628" cy="520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01036" y="7308163"/>
            <a:ext cx="1572376" cy="1570437"/>
            <a:chOff x="0" y="0"/>
            <a:chExt cx="323431" cy="3230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3431" cy="323032"/>
            </a:xfrm>
            <a:custGeom>
              <a:avLst/>
              <a:gdLst/>
              <a:ahLst/>
              <a:cxnLst/>
              <a:rect r="r" b="b" t="t" l="l"/>
              <a:pathLst>
                <a:path h="323032" w="323431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76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0" y="7239729"/>
            <a:ext cx="1427503" cy="1425743"/>
            <a:chOff x="0" y="0"/>
            <a:chExt cx="323431" cy="3230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3431" cy="323032"/>
            </a:xfrm>
            <a:custGeom>
              <a:avLst/>
              <a:gdLst/>
              <a:ahLst/>
              <a:cxnLst/>
              <a:rect r="r" b="b" t="t" l="l"/>
              <a:pathLst>
                <a:path h="323032" w="323431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76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-10800000">
            <a:off x="11243507" y="9245162"/>
            <a:ext cx="5961622" cy="443628"/>
          </a:xfrm>
          <a:custGeom>
            <a:avLst/>
            <a:gdLst/>
            <a:ahLst/>
            <a:cxnLst/>
            <a:rect r="r" b="b" t="t" l="l"/>
            <a:pathLst>
              <a:path h="443628" w="5961622">
                <a:moveTo>
                  <a:pt x="0" y="0"/>
                </a:moveTo>
                <a:lnTo>
                  <a:pt x="5961622" y="0"/>
                </a:lnTo>
                <a:lnTo>
                  <a:pt x="5961622" y="443628"/>
                </a:lnTo>
                <a:lnTo>
                  <a:pt x="0" y="443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-286352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0674808" y="6728259"/>
            <a:ext cx="7099019" cy="2775914"/>
            <a:chOff x="0" y="0"/>
            <a:chExt cx="1234628" cy="48277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34628" cy="482774"/>
            </a:xfrm>
            <a:custGeom>
              <a:avLst/>
              <a:gdLst/>
              <a:ahLst/>
              <a:cxnLst/>
              <a:rect r="r" b="b" t="t" l="l"/>
              <a:pathLst>
                <a:path h="482774" w="1234628">
                  <a:moveTo>
                    <a:pt x="34898" y="0"/>
                  </a:moveTo>
                  <a:lnTo>
                    <a:pt x="1199730" y="0"/>
                  </a:lnTo>
                  <a:cubicBezTo>
                    <a:pt x="1208985" y="0"/>
                    <a:pt x="1217862" y="3677"/>
                    <a:pt x="1224406" y="10221"/>
                  </a:cubicBezTo>
                  <a:cubicBezTo>
                    <a:pt x="1230951" y="16766"/>
                    <a:pt x="1234628" y="25642"/>
                    <a:pt x="1234628" y="34898"/>
                  </a:cubicBezTo>
                  <a:lnTo>
                    <a:pt x="1234628" y="447876"/>
                  </a:lnTo>
                  <a:cubicBezTo>
                    <a:pt x="1234628" y="467149"/>
                    <a:pt x="1219003" y="482774"/>
                    <a:pt x="1199730" y="482774"/>
                  </a:cubicBezTo>
                  <a:lnTo>
                    <a:pt x="34898" y="482774"/>
                  </a:lnTo>
                  <a:cubicBezTo>
                    <a:pt x="15624" y="482774"/>
                    <a:pt x="0" y="467149"/>
                    <a:pt x="0" y="447876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FFFFFF"/>
            </a:solidFill>
            <a:ln w="104775" cap="rnd">
              <a:solidFill>
                <a:srgbClr val="106861"/>
              </a:solidFill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234628" cy="520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857752" y="7330932"/>
            <a:ext cx="1634114" cy="1632099"/>
            <a:chOff x="0" y="0"/>
            <a:chExt cx="323431" cy="3230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3431" cy="323032"/>
            </a:xfrm>
            <a:custGeom>
              <a:avLst/>
              <a:gdLst/>
              <a:ahLst/>
              <a:cxnLst/>
              <a:rect r="r" b="b" t="t" l="l"/>
              <a:pathLst>
                <a:path h="323032" w="323431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76"/>
                </a:lnSpc>
              </a:pP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10260540" y="7625391"/>
            <a:ext cx="1096931" cy="1096931"/>
          </a:xfrm>
          <a:custGeom>
            <a:avLst/>
            <a:gdLst/>
            <a:ahLst/>
            <a:cxnLst/>
            <a:rect r="r" b="b" t="t" l="l"/>
            <a:pathLst>
              <a:path h="1096931" w="1096931">
                <a:moveTo>
                  <a:pt x="0" y="0"/>
                </a:moveTo>
                <a:lnTo>
                  <a:pt x="1096932" y="0"/>
                </a:lnTo>
                <a:lnTo>
                  <a:pt x="1096932" y="1096932"/>
                </a:lnTo>
                <a:lnTo>
                  <a:pt x="0" y="10969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879532" y="7581688"/>
            <a:ext cx="848559" cy="1039438"/>
          </a:xfrm>
          <a:custGeom>
            <a:avLst/>
            <a:gdLst/>
            <a:ahLst/>
            <a:cxnLst/>
            <a:rect r="r" b="b" t="t" l="l"/>
            <a:pathLst>
              <a:path h="1039438" w="848559">
                <a:moveTo>
                  <a:pt x="0" y="0"/>
                </a:moveTo>
                <a:lnTo>
                  <a:pt x="848560" y="0"/>
                </a:lnTo>
                <a:lnTo>
                  <a:pt x="848560" y="1039438"/>
                </a:lnTo>
                <a:lnTo>
                  <a:pt x="0" y="10394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607933" y="553522"/>
            <a:ext cx="4016942" cy="855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5"/>
              </a:lnSpc>
              <a:spcBef>
                <a:spcPct val="0"/>
              </a:spcBef>
            </a:pPr>
            <a:r>
              <a:rPr lang="en-US" b="true" sz="5025" spc="-100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Findings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491865" y="3484778"/>
            <a:ext cx="5566372" cy="107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8"/>
              </a:lnSpc>
              <a:spcBef>
                <a:spcPct val="0"/>
              </a:spcBef>
            </a:pPr>
            <a:r>
              <a:rPr lang="en-US" b="true" sz="2256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Preprocessing techniques like label encoding and oversampling helped address imbalanced data effectively.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491865" y="2844925"/>
            <a:ext cx="3039993" cy="50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5"/>
              </a:lnSpc>
              <a:spcBef>
                <a:spcPct val="0"/>
              </a:spcBef>
            </a:pPr>
            <a:r>
              <a:rPr lang="en-US" b="true" sz="3137">
                <a:solidFill>
                  <a:srgbClr val="3332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Preprocessing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033561" y="3415541"/>
            <a:ext cx="5498676" cy="141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2"/>
              </a:lnSpc>
              <a:spcBef>
                <a:spcPct val="0"/>
              </a:spcBef>
            </a:pPr>
            <a:r>
              <a:rPr lang="en-US" b="true" sz="2228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machine learning models for both crop and fertilizer recommendation showed high accuracy, with the crop model achieving over 90% accuracy.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033561" y="2841594"/>
            <a:ext cx="3003021" cy="49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6"/>
              </a:lnSpc>
              <a:spcBef>
                <a:spcPct val="0"/>
              </a:spcBef>
            </a:pPr>
            <a:r>
              <a:rPr lang="en-US" b="true" sz="3099">
                <a:solidFill>
                  <a:srgbClr val="3332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Accuracy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036664" y="7504545"/>
            <a:ext cx="5356071" cy="143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4"/>
              </a:lnSpc>
              <a:spcBef>
                <a:spcPct val="0"/>
              </a:spcBef>
            </a:pPr>
            <a:r>
              <a:rPr lang="en-US" b="true" sz="2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hosted web based application integrated both models successfully, providing real-time, user-friendly predictions.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036664" y="6952130"/>
            <a:ext cx="2925140" cy="47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4"/>
              </a:lnSpc>
              <a:spcBef>
                <a:spcPct val="0"/>
              </a:spcBef>
            </a:pPr>
            <a:r>
              <a:rPr lang="en-US" b="true" sz="3018">
                <a:solidFill>
                  <a:srgbClr val="3332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491865" y="7504545"/>
            <a:ext cx="5566372" cy="143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2"/>
              </a:lnSpc>
              <a:spcBef>
                <a:spcPct val="0"/>
              </a:spcBef>
            </a:pPr>
            <a:r>
              <a:rPr lang="en-US" b="true" sz="225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system shows strong potential to support informed agricultural decisions, especially in data-scarce regions like Sri Lanka.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491865" y="6837461"/>
            <a:ext cx="3039993" cy="50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5"/>
              </a:lnSpc>
              <a:spcBef>
                <a:spcPct val="0"/>
              </a:spcBef>
            </a:pPr>
            <a:r>
              <a:rPr lang="en-US" b="true" sz="3137">
                <a:solidFill>
                  <a:srgbClr val="3332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Impact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-10800000">
            <a:off x="11162351" y="9466976"/>
            <a:ext cx="5961622" cy="443628"/>
          </a:xfrm>
          <a:custGeom>
            <a:avLst/>
            <a:gdLst/>
            <a:ahLst/>
            <a:cxnLst/>
            <a:rect r="r" b="b" t="t" l="l"/>
            <a:pathLst>
              <a:path h="443628" w="5961622">
                <a:moveTo>
                  <a:pt x="0" y="0"/>
                </a:moveTo>
                <a:lnTo>
                  <a:pt x="5961622" y="0"/>
                </a:lnTo>
                <a:lnTo>
                  <a:pt x="5961622" y="443628"/>
                </a:lnTo>
                <a:lnTo>
                  <a:pt x="0" y="443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-286352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69383" y="4741931"/>
            <a:ext cx="3293700" cy="6611441"/>
          </a:xfrm>
          <a:custGeom>
            <a:avLst/>
            <a:gdLst/>
            <a:ahLst/>
            <a:cxnLst/>
            <a:rect r="r" b="b" t="t" l="l"/>
            <a:pathLst>
              <a:path h="6611441" w="3293700">
                <a:moveTo>
                  <a:pt x="0" y="0"/>
                </a:moveTo>
                <a:lnTo>
                  <a:pt x="3293700" y="0"/>
                </a:lnTo>
                <a:lnTo>
                  <a:pt x="3293700" y="6611441"/>
                </a:lnTo>
                <a:lnTo>
                  <a:pt x="0" y="6611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4465702" y="3054530"/>
            <a:ext cx="897922" cy="0"/>
          </a:xfrm>
          <a:prstGeom prst="line">
            <a:avLst/>
          </a:prstGeom>
          <a:ln cap="rnd" w="28575">
            <a:solidFill>
              <a:srgbClr val="035D61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153148" y="1914132"/>
            <a:ext cx="2312177" cy="2312177"/>
          </a:xfrm>
          <a:custGeom>
            <a:avLst/>
            <a:gdLst/>
            <a:ahLst/>
            <a:cxnLst/>
            <a:rect r="r" b="b" t="t" l="l"/>
            <a:pathLst>
              <a:path h="2312177" w="2312177">
                <a:moveTo>
                  <a:pt x="0" y="0"/>
                </a:moveTo>
                <a:lnTo>
                  <a:pt x="2312177" y="0"/>
                </a:lnTo>
                <a:lnTo>
                  <a:pt x="2312177" y="2312177"/>
                </a:lnTo>
                <a:lnTo>
                  <a:pt x="0" y="23121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38743" y="1996020"/>
            <a:ext cx="2183690" cy="218369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flipV="true">
            <a:off x="4465702" y="5806443"/>
            <a:ext cx="830149" cy="3057"/>
          </a:xfrm>
          <a:prstGeom prst="line">
            <a:avLst/>
          </a:prstGeom>
          <a:ln cap="rnd" w="28575">
            <a:solidFill>
              <a:srgbClr val="035D61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153148" y="4669103"/>
            <a:ext cx="2312177" cy="2312177"/>
          </a:xfrm>
          <a:custGeom>
            <a:avLst/>
            <a:gdLst/>
            <a:ahLst/>
            <a:cxnLst/>
            <a:rect r="r" b="b" t="t" l="l"/>
            <a:pathLst>
              <a:path h="2312177" w="2312177">
                <a:moveTo>
                  <a:pt x="0" y="0"/>
                </a:moveTo>
                <a:lnTo>
                  <a:pt x="2312177" y="0"/>
                </a:lnTo>
                <a:lnTo>
                  <a:pt x="2312177" y="2312176"/>
                </a:lnTo>
                <a:lnTo>
                  <a:pt x="0" y="23121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38743" y="4750991"/>
            <a:ext cx="2183690" cy="2183690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0">
            <a:off x="-1801378" y="-610072"/>
            <a:ext cx="3299321" cy="4114800"/>
          </a:xfrm>
          <a:custGeom>
            <a:avLst/>
            <a:gdLst/>
            <a:ahLst/>
            <a:cxnLst/>
            <a:rect r="r" b="b" t="t" l="l"/>
            <a:pathLst>
              <a:path h="4114800" w="3299321">
                <a:moveTo>
                  <a:pt x="0" y="0"/>
                </a:moveTo>
                <a:lnTo>
                  <a:pt x="3299321" y="0"/>
                </a:lnTo>
                <a:lnTo>
                  <a:pt x="32993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0" id="10"/>
          <p:cNvSpPr/>
          <p:nvPr/>
        </p:nvSpPr>
        <p:spPr>
          <a:xfrm flipV="true">
            <a:off x="4465702" y="8756795"/>
            <a:ext cx="830149" cy="3057"/>
          </a:xfrm>
          <a:prstGeom prst="line">
            <a:avLst/>
          </a:prstGeom>
          <a:ln cap="rnd" w="28575">
            <a:solidFill>
              <a:srgbClr val="035D61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2153148" y="7619454"/>
            <a:ext cx="2312177" cy="2312177"/>
          </a:xfrm>
          <a:custGeom>
            <a:avLst/>
            <a:gdLst/>
            <a:ahLst/>
            <a:cxnLst/>
            <a:rect r="r" b="b" t="t" l="l"/>
            <a:pathLst>
              <a:path h="2312177" w="2312177">
                <a:moveTo>
                  <a:pt x="0" y="0"/>
                </a:moveTo>
                <a:lnTo>
                  <a:pt x="2312177" y="0"/>
                </a:lnTo>
                <a:lnTo>
                  <a:pt x="2312177" y="2312177"/>
                </a:lnTo>
                <a:lnTo>
                  <a:pt x="0" y="23121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38743" y="7701343"/>
            <a:ext cx="2183690" cy="218369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2806931" y="2546563"/>
            <a:ext cx="1047315" cy="104731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8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016919" y="2652624"/>
            <a:ext cx="584635" cy="835192"/>
          </a:xfrm>
          <a:custGeom>
            <a:avLst/>
            <a:gdLst/>
            <a:ahLst/>
            <a:cxnLst/>
            <a:rect r="r" b="b" t="t" l="l"/>
            <a:pathLst>
              <a:path h="835192" w="584635">
                <a:moveTo>
                  <a:pt x="0" y="0"/>
                </a:moveTo>
                <a:lnTo>
                  <a:pt x="584635" y="0"/>
                </a:lnTo>
                <a:lnTo>
                  <a:pt x="584635" y="835192"/>
                </a:lnTo>
                <a:lnTo>
                  <a:pt x="0" y="835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785579" y="5282786"/>
            <a:ext cx="1047315" cy="104731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85579" y="8324304"/>
            <a:ext cx="1047315" cy="104731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8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811969" y="5434811"/>
            <a:ext cx="1042276" cy="780760"/>
          </a:xfrm>
          <a:custGeom>
            <a:avLst/>
            <a:gdLst/>
            <a:ahLst/>
            <a:cxnLst/>
            <a:rect r="r" b="b" t="t" l="l"/>
            <a:pathLst>
              <a:path h="780760" w="1042276">
                <a:moveTo>
                  <a:pt x="0" y="0"/>
                </a:moveTo>
                <a:lnTo>
                  <a:pt x="1042277" y="0"/>
                </a:lnTo>
                <a:lnTo>
                  <a:pt x="1042277" y="780760"/>
                </a:lnTo>
                <a:lnTo>
                  <a:pt x="0" y="7807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943501" y="8357788"/>
            <a:ext cx="731471" cy="870799"/>
          </a:xfrm>
          <a:custGeom>
            <a:avLst/>
            <a:gdLst/>
            <a:ahLst/>
            <a:cxnLst/>
            <a:rect r="r" b="b" t="t" l="l"/>
            <a:pathLst>
              <a:path h="870799" w="731471">
                <a:moveTo>
                  <a:pt x="0" y="0"/>
                </a:moveTo>
                <a:lnTo>
                  <a:pt x="731471" y="0"/>
                </a:lnTo>
                <a:lnTo>
                  <a:pt x="731471" y="870799"/>
                </a:lnTo>
                <a:lnTo>
                  <a:pt x="0" y="87079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153148" y="642591"/>
            <a:ext cx="2626594" cy="9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62"/>
              </a:lnSpc>
              <a:spcBef>
                <a:spcPct val="0"/>
              </a:spcBef>
            </a:pPr>
            <a:r>
              <a:rPr lang="en-US" b="true" sz="5330" spc="-106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Novelty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92224" y="2285179"/>
            <a:ext cx="5722599" cy="48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71"/>
              </a:lnSpc>
              <a:spcBef>
                <a:spcPct val="0"/>
              </a:spcBef>
            </a:pPr>
            <a:r>
              <a:rPr lang="en-US" b="true" sz="2836" spc="-56">
                <a:solidFill>
                  <a:srgbClr val="10686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Localized Focus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92224" y="2685499"/>
            <a:ext cx="9000680" cy="102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0"/>
              </a:lnSpc>
            </a:pPr>
            <a:r>
              <a:rPr lang="en-US" b="true" sz="2766">
                <a:solidFill>
                  <a:srgbClr val="3434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Designed specifically for Sri Lankan agriculture, adapting non-local datasets effectively.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92224" y="5040150"/>
            <a:ext cx="5722599" cy="48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71"/>
              </a:lnSpc>
              <a:spcBef>
                <a:spcPct val="0"/>
              </a:spcBef>
            </a:pPr>
            <a:r>
              <a:rPr lang="en-US" b="true" sz="2836" spc="-56">
                <a:solidFill>
                  <a:srgbClr val="10686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Fully Deployed System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92224" y="5440470"/>
            <a:ext cx="8505908" cy="102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0"/>
              </a:lnSpc>
            </a:pPr>
            <a:r>
              <a:rPr lang="en-US" b="true" sz="2766">
                <a:solidFill>
                  <a:srgbClr val="3434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complete ML-powered web application that is hosted and accessible online.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592224" y="7990502"/>
            <a:ext cx="5722599" cy="48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71"/>
              </a:lnSpc>
              <a:spcBef>
                <a:spcPct val="0"/>
              </a:spcBef>
            </a:pPr>
            <a:r>
              <a:rPr lang="en-US" b="true" sz="2836" spc="-56">
                <a:solidFill>
                  <a:srgbClr val="10686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User-Friendly Design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92224" y="8390821"/>
            <a:ext cx="8238339" cy="155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0"/>
              </a:lnSpc>
            </a:pPr>
            <a:r>
              <a:rPr lang="en-US" b="true" sz="2766">
                <a:solidFill>
                  <a:srgbClr val="3434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Provides real-time, web-based recommendations with minimal input needed from the user.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85113" y="2681436"/>
            <a:ext cx="8892659" cy="4924128"/>
            <a:chOff x="0" y="0"/>
            <a:chExt cx="2785608" cy="15424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5608" cy="1542473"/>
            </a:xfrm>
            <a:custGeom>
              <a:avLst/>
              <a:gdLst/>
              <a:ahLst/>
              <a:cxnLst/>
              <a:rect r="r" b="b" t="t" l="l"/>
              <a:pathLst>
                <a:path h="1542473" w="2785608">
                  <a:moveTo>
                    <a:pt x="39177" y="0"/>
                  </a:moveTo>
                  <a:lnTo>
                    <a:pt x="2746431" y="0"/>
                  </a:lnTo>
                  <a:cubicBezTo>
                    <a:pt x="2768068" y="0"/>
                    <a:pt x="2785608" y="17540"/>
                    <a:pt x="2785608" y="39177"/>
                  </a:cubicBezTo>
                  <a:lnTo>
                    <a:pt x="2785608" y="1503296"/>
                  </a:lnTo>
                  <a:cubicBezTo>
                    <a:pt x="2785608" y="1524933"/>
                    <a:pt x="2768068" y="1542473"/>
                    <a:pt x="2746431" y="1542473"/>
                  </a:cubicBezTo>
                  <a:lnTo>
                    <a:pt x="39177" y="1542473"/>
                  </a:lnTo>
                  <a:cubicBezTo>
                    <a:pt x="17540" y="1542473"/>
                    <a:pt x="0" y="1524933"/>
                    <a:pt x="0" y="1503296"/>
                  </a:cubicBezTo>
                  <a:lnTo>
                    <a:pt x="0" y="39177"/>
                  </a:lnTo>
                  <a:cubicBezTo>
                    <a:pt x="0" y="17540"/>
                    <a:pt x="17540" y="0"/>
                    <a:pt x="39177" y="0"/>
                  </a:cubicBezTo>
                  <a:close/>
                </a:path>
              </a:pathLst>
            </a:custGeom>
            <a:solidFill>
              <a:srgbClr val="106861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85608" cy="1580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3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39673" y="1076413"/>
            <a:ext cx="8000326" cy="8000326"/>
          </a:xfrm>
          <a:custGeom>
            <a:avLst/>
            <a:gdLst/>
            <a:ahLst/>
            <a:cxnLst/>
            <a:rect r="r" b="b" t="t" l="l"/>
            <a:pathLst>
              <a:path h="8000326" w="8000326">
                <a:moveTo>
                  <a:pt x="0" y="0"/>
                </a:moveTo>
                <a:lnTo>
                  <a:pt x="8000326" y="0"/>
                </a:lnTo>
                <a:lnTo>
                  <a:pt x="8000326" y="8000326"/>
                </a:lnTo>
                <a:lnTo>
                  <a:pt x="0" y="8000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5811589" y="8007246"/>
            <a:ext cx="4201427" cy="420142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42950" cap="sq">
              <a:solidFill>
                <a:srgbClr val="27CCB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868494" y="-2100713"/>
            <a:ext cx="4201427" cy="420142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42950" cap="sq">
              <a:solidFill>
                <a:srgbClr val="27CCB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067950" y="6633635"/>
            <a:ext cx="762083" cy="76208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575233" y="9258300"/>
            <a:ext cx="1614906" cy="16149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861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434209" y="2359194"/>
            <a:ext cx="5246370" cy="524637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638383" y="4120884"/>
            <a:ext cx="4690387" cy="86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16"/>
              </a:lnSpc>
              <a:spcBef>
                <a:spcPct val="0"/>
              </a:spcBef>
            </a:pPr>
            <a:r>
              <a:rPr lang="en-US" b="true" sz="5082" spc="47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TOU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23922" y="5105400"/>
            <a:ext cx="4872554" cy="434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5"/>
              </a:lnSpc>
              <a:spcBef>
                <a:spcPct val="0"/>
              </a:spcBef>
            </a:pPr>
            <a:r>
              <a:rPr lang="en-US" sz="2611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For watching this presentation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473459" y="1139083"/>
            <a:ext cx="4504847" cy="1220112"/>
            <a:chOff x="0" y="0"/>
            <a:chExt cx="6006463" cy="16268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26816" cy="1626816"/>
            </a:xfrm>
            <a:custGeom>
              <a:avLst/>
              <a:gdLst/>
              <a:ahLst/>
              <a:cxnLst/>
              <a:rect r="r" b="b" t="t" l="l"/>
              <a:pathLst>
                <a:path h="1626816" w="1626816">
                  <a:moveTo>
                    <a:pt x="0" y="0"/>
                  </a:moveTo>
                  <a:lnTo>
                    <a:pt x="1626816" y="0"/>
                  </a:lnTo>
                  <a:lnTo>
                    <a:pt x="1626816" y="1626816"/>
                  </a:lnTo>
                  <a:lnTo>
                    <a:pt x="0" y="1626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1626816" y="376463"/>
              <a:ext cx="4379647" cy="892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24"/>
                </a:lnSpc>
              </a:pPr>
              <a:r>
                <a:rPr lang="en-US" sz="4543" spc="-90" b="true">
                  <a:solidFill>
                    <a:srgbClr val="19191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Agri</a:t>
              </a:r>
              <a:r>
                <a:rPr lang="en-US" sz="4543" spc="-90" b="true">
                  <a:solidFill>
                    <a:srgbClr val="19191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Advisor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712114" y="5615868"/>
            <a:ext cx="4616655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8"/>
              </a:lnSpc>
            </a:pPr>
            <a:r>
              <a:rPr lang="en-US" sz="3398" u="sng">
                <a:solidFill>
                  <a:srgbClr val="FDFBFB"/>
                </a:solidFill>
                <a:latin typeface="Arimo"/>
                <a:ea typeface="Arimo"/>
                <a:cs typeface="Arimo"/>
                <a:sym typeface="Arimo"/>
                <a:hlinkClick r:id="rId6" tooltip="https://agriadvisor.site"/>
              </a:rPr>
              <a:t>https://agriadvisor.site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65521" y="1965021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06037" y="744909"/>
            <a:ext cx="4504847" cy="1220112"/>
            <a:chOff x="0" y="0"/>
            <a:chExt cx="6006463" cy="16268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6816" cy="1626816"/>
            </a:xfrm>
            <a:custGeom>
              <a:avLst/>
              <a:gdLst/>
              <a:ahLst/>
              <a:cxnLst/>
              <a:rect r="r" b="b" t="t" l="l"/>
              <a:pathLst>
                <a:path h="1626816" w="1626816">
                  <a:moveTo>
                    <a:pt x="0" y="0"/>
                  </a:moveTo>
                  <a:lnTo>
                    <a:pt x="1626816" y="0"/>
                  </a:lnTo>
                  <a:lnTo>
                    <a:pt x="1626816" y="1626816"/>
                  </a:lnTo>
                  <a:lnTo>
                    <a:pt x="0" y="1626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626816" y="376463"/>
              <a:ext cx="4379647" cy="892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24"/>
                </a:lnSpc>
              </a:pPr>
              <a:r>
                <a:rPr lang="en-US" sz="4543" spc="-90" b="true">
                  <a:solidFill>
                    <a:srgbClr val="19191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Agri</a:t>
              </a:r>
              <a:r>
                <a:rPr lang="en-US" sz="4543" spc="-90" b="true">
                  <a:solidFill>
                    <a:srgbClr val="19191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Advisor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DAG5k1msGyc</dc:identifier>
  <dcterms:modified xsi:type="dcterms:W3CDTF">2011-08-01T06:04:30Z</dcterms:modified>
  <cp:revision>1</cp:revision>
  <dc:title>White and Green Simple  Professional Business Project Presentation</dc:title>
</cp:coreProperties>
</file>